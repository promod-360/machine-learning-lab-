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70" r:id="rId2"/>
    <p:sldId id="272" r:id="rId3"/>
    <p:sldId id="273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4630400" cy="8229600"/>
  <p:notesSz cx="8229600" cy="14630400"/>
  <p:embeddedFontLst>
    <p:embeddedFont>
      <p:font typeface="Bodoni MT" panose="02070603080606020203" pitchFamily="18" charset="0"/>
      <p:regular r:id="rId17"/>
      <p:bold r:id="rId18"/>
      <p:italic r:id="rId19"/>
      <p:boldItalic r:id="rId20"/>
    </p:embeddedFon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Corben" panose="020B0604020202020204" charset="0"/>
      <p:regular r:id="rId25"/>
    </p:embeddedFont>
    <p:embeddedFont>
      <p:font typeface="Nobile" panose="020B0604020202020204" charset="0"/>
      <p:regular r:id="rId26"/>
    </p:embeddedFont>
    <p:embeddedFont>
      <p:font typeface="Nunito" pitchFamily="2" charset="0"/>
      <p:regular r:id="rId27"/>
      <p:bold r:id="rId28"/>
      <p:italic r:id="rId29"/>
      <p:boldItalic r:id="rId30"/>
    </p:embeddedFont>
    <p:embeddedFont>
      <p:font typeface="Playfair Display" panose="00000500000000000000" pitchFamily="2" charset="0"/>
      <p:regular r:id="rId31"/>
      <p:bold r:id="rId32"/>
      <p:italic r:id="rId33"/>
      <p:boldItalic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9" d="100"/>
          <a:sy n="49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7728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5B4470F0-99C5-9B46-221F-38EFBC837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>
            <a:extLst>
              <a:ext uri="{FF2B5EF4-FFF2-40B4-BE49-F238E27FC236}">
                <a16:creationId xmlns:a16="http://schemas.microsoft.com/office/drawing/2014/main" id="{84193394-1DCD-43AC-0848-932C2B3F8732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:notes">
            <a:extLst>
              <a:ext uri="{FF2B5EF4-FFF2-40B4-BE49-F238E27FC236}">
                <a16:creationId xmlns:a16="http://schemas.microsoft.com/office/drawing/2014/main" id="{DC1F40EB-7AB8-E64C-D23F-23E2424C9F5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0" name="Google Shape;110;p2:notes">
            <a:extLst>
              <a:ext uri="{FF2B5EF4-FFF2-40B4-BE49-F238E27FC236}">
                <a16:creationId xmlns:a16="http://schemas.microsoft.com/office/drawing/2014/main" id="{B062FA1A-34F1-3463-7A77-568D49D85133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73C136F8-9601-0BBA-3D96-1FB04345BB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2:notes">
            <a:extLst>
              <a:ext uri="{FF2B5EF4-FFF2-40B4-BE49-F238E27FC236}">
                <a16:creationId xmlns:a16="http://schemas.microsoft.com/office/drawing/2014/main" id="{D396C133-5BC6-7315-5DBC-EC14517043A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:notes">
            <a:extLst>
              <a:ext uri="{FF2B5EF4-FFF2-40B4-BE49-F238E27FC236}">
                <a16:creationId xmlns:a16="http://schemas.microsoft.com/office/drawing/2014/main" id="{1036DE29-CF87-DE51-E073-8072E7BEEB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64301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dt" idx="10"/>
          </p:nvPr>
        </p:nvSpPr>
        <p:spPr>
          <a:xfrm>
            <a:off x="548783" y="7627621"/>
            <a:ext cx="256098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ftr" idx="11"/>
          </p:nvPr>
        </p:nvSpPr>
        <p:spPr>
          <a:xfrm>
            <a:off x="3750016" y="7627621"/>
            <a:ext cx="3475626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7865889" y="7627621"/>
            <a:ext cx="256098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5203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sv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269180-CBCF-522A-9159-088763391168}"/>
              </a:ext>
            </a:extLst>
          </p:cNvPr>
          <p:cNvSpPr/>
          <p:nvPr/>
        </p:nvSpPr>
        <p:spPr>
          <a:xfrm>
            <a:off x="3" y="19251"/>
            <a:ext cx="14630398" cy="822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93" name="Google Shape;93;p13"/>
          <p:cNvSpPr/>
          <p:nvPr/>
        </p:nvSpPr>
        <p:spPr>
          <a:xfrm>
            <a:off x="-814686" y="268054"/>
            <a:ext cx="8639773" cy="9350842"/>
          </a:xfrm>
          <a:custGeom>
            <a:avLst/>
            <a:gdLst/>
            <a:ahLst/>
            <a:cxnLst/>
            <a:rect l="l" t="t" r="r" b="b"/>
            <a:pathLst>
              <a:path w="10799715" h="11688552" extrusionOk="0">
                <a:moveTo>
                  <a:pt x="0" y="0"/>
                </a:moveTo>
                <a:lnTo>
                  <a:pt x="10799714" y="0"/>
                </a:lnTo>
                <a:lnTo>
                  <a:pt x="10799714" y="11688552"/>
                </a:lnTo>
                <a:lnTo>
                  <a:pt x="0" y="116885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 sz="1440"/>
          </a:p>
        </p:txBody>
      </p:sp>
      <p:sp>
        <p:nvSpPr>
          <p:cNvPr id="94" name="Google Shape;94;p13"/>
          <p:cNvSpPr txBox="1"/>
          <p:nvPr/>
        </p:nvSpPr>
        <p:spPr>
          <a:xfrm>
            <a:off x="1242902" y="268054"/>
            <a:ext cx="12144600" cy="826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3"/>
              </a:lnSpc>
            </a:pPr>
            <a:r>
              <a:rPr lang="en-US" sz="4478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GREEN UNIVERSITY OF BANGLADESH</a:t>
            </a:r>
            <a:endParaRPr sz="1440" dirty="0"/>
          </a:p>
        </p:txBody>
      </p:sp>
      <p:sp>
        <p:nvSpPr>
          <p:cNvPr id="95" name="Google Shape;95;p13"/>
          <p:cNvSpPr txBox="1"/>
          <p:nvPr/>
        </p:nvSpPr>
        <p:spPr>
          <a:xfrm>
            <a:off x="5181600" y="999243"/>
            <a:ext cx="3640109" cy="611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37972"/>
              </a:lnSpc>
            </a:pPr>
            <a:r>
              <a:rPr lang="en-US" sz="288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CSE</a:t>
            </a:r>
            <a:endParaRPr sz="1440" dirty="0"/>
          </a:p>
        </p:txBody>
      </p:sp>
      <p:sp>
        <p:nvSpPr>
          <p:cNvPr id="96" name="Google Shape;96;p13"/>
          <p:cNvSpPr txBox="1"/>
          <p:nvPr/>
        </p:nvSpPr>
        <p:spPr>
          <a:xfrm>
            <a:off x="2064086" y="1655391"/>
            <a:ext cx="10363200" cy="945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560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Course : Machine Learning Lab</a:t>
            </a:r>
          </a:p>
          <a:p>
            <a:pPr algn="ctr">
              <a:lnSpc>
                <a:spcPct val="120000"/>
              </a:lnSpc>
            </a:pPr>
            <a:r>
              <a:rPr lang="en-US" sz="2560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CSE-404 | 231-D2</a:t>
            </a:r>
            <a:endParaRPr lang="en-US" sz="1440" dirty="0"/>
          </a:p>
        </p:txBody>
      </p:sp>
      <p:sp>
        <p:nvSpPr>
          <p:cNvPr id="98" name="Google Shape;98;p13"/>
          <p:cNvSpPr txBox="1"/>
          <p:nvPr/>
        </p:nvSpPr>
        <p:spPr>
          <a:xfrm>
            <a:off x="7890502" y="5263083"/>
            <a:ext cx="5603429" cy="731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432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InsightCart</a:t>
            </a:r>
            <a:endParaRPr lang="en-US" sz="4320" dirty="0">
              <a:solidFill>
                <a:schemeClr val="bg1"/>
              </a:solidFill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13008713" y="322757"/>
            <a:ext cx="1061765" cy="703914"/>
          </a:xfrm>
          <a:custGeom>
            <a:avLst/>
            <a:gdLst/>
            <a:ahLst/>
            <a:cxnLst/>
            <a:rect l="l" t="t" r="r" b="b"/>
            <a:pathLst>
              <a:path w="1327206" h="1327206" extrusionOk="0">
                <a:moveTo>
                  <a:pt x="0" y="0"/>
                </a:moveTo>
                <a:lnTo>
                  <a:pt x="1327206" y="0"/>
                </a:lnTo>
                <a:lnTo>
                  <a:pt x="1327206" y="1327206"/>
                </a:lnTo>
                <a:lnTo>
                  <a:pt x="0" y="13272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  <a:effectLst/>
        </p:spPr>
        <p:txBody>
          <a:bodyPr/>
          <a:lstStyle/>
          <a:p>
            <a:endParaRPr lang="en-US" sz="1440"/>
          </a:p>
        </p:txBody>
      </p:sp>
      <p:grpSp>
        <p:nvGrpSpPr>
          <p:cNvPr id="102" name="Google Shape;102;p13"/>
          <p:cNvGrpSpPr/>
          <p:nvPr/>
        </p:nvGrpSpPr>
        <p:grpSpPr>
          <a:xfrm>
            <a:off x="7461384" y="4435504"/>
            <a:ext cx="3512970" cy="663389"/>
            <a:chOff x="2743652" y="1948926"/>
            <a:chExt cx="5854947" cy="1089349"/>
          </a:xfrm>
        </p:grpSpPr>
        <p:sp>
          <p:nvSpPr>
            <p:cNvPr id="103" name="Google Shape;103;p13"/>
            <p:cNvSpPr/>
            <p:nvPr/>
          </p:nvSpPr>
          <p:spPr>
            <a:xfrm>
              <a:off x="3316161" y="2034594"/>
              <a:ext cx="5282438" cy="1003681"/>
            </a:xfrm>
            <a:custGeom>
              <a:avLst/>
              <a:gdLst/>
              <a:ahLst/>
              <a:cxnLst/>
              <a:rect l="l" t="t" r="r" b="b"/>
              <a:pathLst>
                <a:path w="5282438" h="1003681" extrusionOk="0">
                  <a:moveTo>
                    <a:pt x="0" y="0"/>
                  </a:moveTo>
                  <a:lnTo>
                    <a:pt x="5282438" y="0"/>
                  </a:lnTo>
                  <a:lnTo>
                    <a:pt x="5282438" y="1003681"/>
                  </a:lnTo>
                  <a:lnTo>
                    <a:pt x="0" y="1003681"/>
                  </a:lnTo>
                  <a:close/>
                </a:path>
              </a:pathLst>
            </a:custGeom>
            <a:solidFill>
              <a:srgbClr val="505CA6"/>
            </a:solidFill>
            <a:ln>
              <a:noFill/>
            </a:ln>
          </p:spPr>
          <p:txBody>
            <a:bodyPr/>
            <a:lstStyle/>
            <a:p>
              <a:endParaRPr lang="en-US" sz="1440"/>
            </a:p>
          </p:txBody>
        </p:sp>
        <p:sp>
          <p:nvSpPr>
            <p:cNvPr id="104" name="Google Shape;104;p13"/>
            <p:cNvSpPr txBox="1"/>
            <p:nvPr/>
          </p:nvSpPr>
          <p:spPr>
            <a:xfrm>
              <a:off x="2743652" y="1948926"/>
              <a:ext cx="5282405" cy="10893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0640" tIns="40640" rIns="40640" bIns="40640" anchor="ctr" anchorCtr="0">
              <a:noAutofit/>
            </a:bodyPr>
            <a:lstStyle/>
            <a:p>
              <a:pPr algn="r">
                <a:lnSpc>
                  <a:spcPct val="137972"/>
                </a:lnSpc>
              </a:pPr>
              <a:r>
                <a:rPr lang="en-US" sz="288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Presentation on</a:t>
              </a:r>
              <a:endParaRPr sz="1440" dirty="0"/>
            </a:p>
          </p:txBody>
        </p:sp>
      </p:grpSp>
      <p:pic>
        <p:nvPicPr>
          <p:cNvPr id="1028" name="Picture 4" descr="Log in - GUB Student Portal">
            <a:extLst>
              <a:ext uri="{FF2B5EF4-FFF2-40B4-BE49-F238E27FC236}">
                <a16:creationId xmlns:a16="http://schemas.microsoft.com/office/drawing/2014/main" id="{20466CA5-C7AF-9D06-1544-2D78F3264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786" y="322757"/>
            <a:ext cx="1433014" cy="703914"/>
          </a:xfrm>
          <a:prstGeom prst="rect">
            <a:avLst/>
          </a:prstGeom>
          <a:noFill/>
          <a:effectLst>
            <a:outerShdw blurRad="50800" dist="50800" dir="4200000" algn="ctr" rotWithShape="0">
              <a:srgbClr val="000000">
                <a:alpha val="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05;p13">
            <a:extLst>
              <a:ext uri="{FF2B5EF4-FFF2-40B4-BE49-F238E27FC236}">
                <a16:creationId xmlns:a16="http://schemas.microsoft.com/office/drawing/2014/main" id="{4DC8D41E-C342-043F-DAED-ECC31FCB4F5A}"/>
              </a:ext>
            </a:extLst>
          </p:cNvPr>
          <p:cNvSpPr txBox="1"/>
          <p:nvPr/>
        </p:nvSpPr>
        <p:spPr>
          <a:xfrm>
            <a:off x="13539593" y="7616213"/>
            <a:ext cx="1220618" cy="51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7"/>
              </a:lnSpc>
            </a:pPr>
            <a:r>
              <a:rPr lang="en-US" sz="2798" dirty="0"/>
              <a:t>1</a:t>
            </a:r>
            <a:endParaRPr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E7261CD2-111D-A16F-F1DF-EC6CEB8B9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8FD633A-9C8E-B313-3DDA-B0901B0B38E9}"/>
              </a:ext>
            </a:extLst>
          </p:cNvPr>
          <p:cNvSpPr/>
          <p:nvPr/>
        </p:nvSpPr>
        <p:spPr>
          <a:xfrm>
            <a:off x="0" y="2"/>
            <a:ext cx="14630400" cy="822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accent6"/>
              </a:solidFill>
            </a:endParaRPr>
          </a:p>
        </p:txBody>
      </p:sp>
      <p:sp>
        <p:nvSpPr>
          <p:cNvPr id="116" name="Google Shape;116;p14">
            <a:extLst>
              <a:ext uri="{FF2B5EF4-FFF2-40B4-BE49-F238E27FC236}">
                <a16:creationId xmlns:a16="http://schemas.microsoft.com/office/drawing/2014/main" id="{8A388197-229B-18BA-8C00-E65AC42DCA17}"/>
              </a:ext>
            </a:extLst>
          </p:cNvPr>
          <p:cNvSpPr txBox="1"/>
          <p:nvPr/>
        </p:nvSpPr>
        <p:spPr>
          <a:xfrm>
            <a:off x="1242902" y="785062"/>
            <a:ext cx="12144600" cy="1476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4"/>
              </a:lnSpc>
            </a:pPr>
            <a:r>
              <a:rPr lang="en-US" sz="3998" b="1" dirty="0">
                <a:solidFill>
                  <a:srgbClr val="FFFFFF"/>
                </a:solidFill>
                <a:latin typeface="Bodoni MT" panose="02070603080606020203" pitchFamily="18" charset="0"/>
                <a:ea typeface="Arimo"/>
                <a:cs typeface="Arimo"/>
                <a:sym typeface="Arimo"/>
              </a:rPr>
              <a:t>       Presented by                                           Presented to        </a:t>
            </a:r>
            <a:endParaRPr lang="en-US" sz="4320" b="1" u="sng" dirty="0">
              <a:solidFill>
                <a:schemeClr val="bg1"/>
              </a:solidFill>
              <a:latin typeface="Bodoni MT" panose="02070603080606020203" pitchFamily="18" charset="0"/>
              <a:ea typeface="Consolas"/>
              <a:cs typeface="Consolas"/>
              <a:sym typeface="Consolas"/>
            </a:endParaRPr>
          </a:p>
          <a:p>
            <a:pPr>
              <a:lnSpc>
                <a:spcPct val="120004"/>
              </a:lnSpc>
            </a:pPr>
            <a:endParaRPr sz="3998" b="1" dirty="0">
              <a:solidFill>
                <a:srgbClr val="FFFFFF"/>
              </a:solidFill>
              <a:latin typeface="Bodoni MT" panose="02070603080606020203" pitchFamily="18" charset="0"/>
              <a:ea typeface="Arimo"/>
              <a:cs typeface="Arimo"/>
              <a:sym typeface="Arimo"/>
            </a:endParaRPr>
          </a:p>
        </p:txBody>
      </p:sp>
      <p:sp>
        <p:nvSpPr>
          <p:cNvPr id="117" name="Google Shape;117;p14">
            <a:extLst>
              <a:ext uri="{FF2B5EF4-FFF2-40B4-BE49-F238E27FC236}">
                <a16:creationId xmlns:a16="http://schemas.microsoft.com/office/drawing/2014/main" id="{A76CCB4F-3F60-1AF7-CE46-1E9DC4D8E73B}"/>
              </a:ext>
            </a:extLst>
          </p:cNvPr>
          <p:cNvSpPr/>
          <p:nvPr/>
        </p:nvSpPr>
        <p:spPr>
          <a:xfrm>
            <a:off x="1258893" y="1497064"/>
            <a:ext cx="12401778" cy="73152"/>
          </a:xfrm>
          <a:custGeom>
            <a:avLst/>
            <a:gdLst/>
            <a:ahLst/>
            <a:cxnLst/>
            <a:rect l="l" t="t" r="r" b="b"/>
            <a:pathLst>
              <a:path w="20669631" h="121920" extrusionOk="0">
                <a:moveTo>
                  <a:pt x="0" y="0"/>
                </a:moveTo>
                <a:lnTo>
                  <a:pt x="20669631" y="0"/>
                </a:lnTo>
                <a:lnTo>
                  <a:pt x="20669631" y="121920"/>
                </a:lnTo>
                <a:lnTo>
                  <a:pt x="0" y="12192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sz="1440"/>
          </a:p>
        </p:txBody>
      </p:sp>
      <p:sp>
        <p:nvSpPr>
          <p:cNvPr id="7" name="Google Shape;105;p13">
            <a:extLst>
              <a:ext uri="{FF2B5EF4-FFF2-40B4-BE49-F238E27FC236}">
                <a16:creationId xmlns:a16="http://schemas.microsoft.com/office/drawing/2014/main" id="{D6D19BD1-A2A0-4FA0-CFF0-E353C35C012B}"/>
              </a:ext>
            </a:extLst>
          </p:cNvPr>
          <p:cNvSpPr txBox="1"/>
          <p:nvPr/>
        </p:nvSpPr>
        <p:spPr>
          <a:xfrm>
            <a:off x="13539593" y="7616213"/>
            <a:ext cx="1220618" cy="51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7"/>
              </a:lnSpc>
            </a:pPr>
            <a:r>
              <a:rPr lang="en-US" sz="2798" dirty="0"/>
              <a:t>2</a:t>
            </a:r>
            <a:endParaRPr sz="1400" dirty="0"/>
          </a:p>
        </p:txBody>
      </p:sp>
      <p:grpSp>
        <p:nvGrpSpPr>
          <p:cNvPr id="14" name="Google Shape;119;p14">
            <a:extLst>
              <a:ext uri="{FF2B5EF4-FFF2-40B4-BE49-F238E27FC236}">
                <a16:creationId xmlns:a16="http://schemas.microsoft.com/office/drawing/2014/main" id="{E06DE65E-F140-A5BE-1826-AB1F6BA2B8A6}"/>
              </a:ext>
            </a:extLst>
          </p:cNvPr>
          <p:cNvGrpSpPr/>
          <p:nvPr/>
        </p:nvGrpSpPr>
        <p:grpSpPr>
          <a:xfrm>
            <a:off x="357109" y="1970261"/>
            <a:ext cx="7128842" cy="1064914"/>
            <a:chOff x="1423829" y="2710860"/>
            <a:chExt cx="8911053" cy="1447831"/>
          </a:xfrm>
        </p:grpSpPr>
        <p:grpSp>
          <p:nvGrpSpPr>
            <p:cNvPr id="15" name="Google Shape;120;p14">
              <a:extLst>
                <a:ext uri="{FF2B5EF4-FFF2-40B4-BE49-F238E27FC236}">
                  <a16:creationId xmlns:a16="http://schemas.microsoft.com/office/drawing/2014/main" id="{730890A5-A109-5625-8779-248BBF405C7A}"/>
                </a:ext>
              </a:extLst>
            </p:cNvPr>
            <p:cNvGrpSpPr/>
            <p:nvPr/>
          </p:nvGrpSpPr>
          <p:grpSpPr>
            <a:xfrm>
              <a:off x="1423829" y="2710860"/>
              <a:ext cx="8911053" cy="1447831"/>
              <a:chOff x="1423829" y="4078532"/>
              <a:chExt cx="8911053" cy="1447831"/>
            </a:xfrm>
          </p:grpSpPr>
          <p:sp>
            <p:nvSpPr>
              <p:cNvPr id="17" name="Google Shape;121;p14">
                <a:extLst>
                  <a:ext uri="{FF2B5EF4-FFF2-40B4-BE49-F238E27FC236}">
                    <a16:creationId xmlns:a16="http://schemas.microsoft.com/office/drawing/2014/main" id="{89179129-D17F-1D22-67E1-9F6E61DF9D2D}"/>
                  </a:ext>
                </a:extLst>
              </p:cNvPr>
              <p:cNvSpPr/>
              <p:nvPr/>
            </p:nvSpPr>
            <p:spPr>
              <a:xfrm>
                <a:off x="2257872" y="4078532"/>
                <a:ext cx="8077010" cy="1447831"/>
              </a:xfrm>
              <a:custGeom>
                <a:avLst/>
                <a:gdLst/>
                <a:ahLst/>
                <a:cxnLst/>
                <a:rect l="l" t="t" r="r" b="b"/>
                <a:pathLst>
                  <a:path w="10769347" h="1077468" extrusionOk="0">
                    <a:moveTo>
                      <a:pt x="0" y="535178"/>
                    </a:moveTo>
                    <a:cubicBezTo>
                      <a:pt x="0" y="239649"/>
                      <a:pt x="239649" y="0"/>
                      <a:pt x="535178" y="0"/>
                    </a:cubicBezTo>
                    <a:lnTo>
                      <a:pt x="10234168" y="0"/>
                    </a:lnTo>
                    <a:cubicBezTo>
                      <a:pt x="10529697" y="0"/>
                      <a:pt x="10769347" y="239649"/>
                      <a:pt x="10769347" y="535178"/>
                    </a:cubicBezTo>
                    <a:lnTo>
                      <a:pt x="10769347" y="542290"/>
                    </a:lnTo>
                    <a:cubicBezTo>
                      <a:pt x="10769347" y="837819"/>
                      <a:pt x="10529697" y="1077468"/>
                      <a:pt x="10234168" y="1077468"/>
                    </a:cubicBezTo>
                    <a:lnTo>
                      <a:pt x="535178" y="1077468"/>
                    </a:lnTo>
                    <a:cubicBezTo>
                      <a:pt x="239649" y="1077468"/>
                      <a:pt x="0" y="837819"/>
                      <a:pt x="0" y="54229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73141" tIns="73141" rIns="73141" bIns="73141" anchor="ctr" anchorCtr="0">
                <a:noAutofit/>
              </a:bodyPr>
              <a:lstStyle/>
              <a:p>
                <a:endParaRPr sz="1440"/>
              </a:p>
            </p:txBody>
          </p:sp>
          <p:sp>
            <p:nvSpPr>
              <p:cNvPr id="18" name="Google Shape;122;p14">
                <a:extLst>
                  <a:ext uri="{FF2B5EF4-FFF2-40B4-BE49-F238E27FC236}">
                    <a16:creationId xmlns:a16="http://schemas.microsoft.com/office/drawing/2014/main" id="{ED740121-3B67-AEE3-A43D-01E247006F1E}"/>
                  </a:ext>
                </a:extLst>
              </p:cNvPr>
              <p:cNvSpPr/>
              <p:nvPr/>
            </p:nvSpPr>
            <p:spPr>
              <a:xfrm>
                <a:off x="1423829" y="4140160"/>
                <a:ext cx="1230439" cy="1223817"/>
              </a:xfrm>
              <a:custGeom>
                <a:avLst/>
                <a:gdLst/>
                <a:ahLst/>
                <a:cxnLst/>
                <a:rect l="l" t="t" r="r" b="b"/>
                <a:pathLst>
                  <a:path w="1640586" h="1549400" extrusionOk="0">
                    <a:moveTo>
                      <a:pt x="0" y="774700"/>
                    </a:moveTo>
                    <a:cubicBezTo>
                      <a:pt x="0" y="346837"/>
                      <a:pt x="367284" y="0"/>
                      <a:pt x="820293" y="0"/>
                    </a:cubicBezTo>
                    <a:cubicBezTo>
                      <a:pt x="1273302" y="0"/>
                      <a:pt x="1640586" y="346837"/>
                      <a:pt x="1640586" y="774700"/>
                    </a:cubicBezTo>
                    <a:cubicBezTo>
                      <a:pt x="1640586" y="1202563"/>
                      <a:pt x="1273302" y="1549400"/>
                      <a:pt x="820293" y="1549400"/>
                    </a:cubicBezTo>
                    <a:cubicBezTo>
                      <a:pt x="367284" y="1549400"/>
                      <a:pt x="0" y="1202563"/>
                      <a:pt x="0" y="774700"/>
                    </a:cubicBezTo>
                    <a:close/>
                  </a:path>
                </a:pathLst>
              </a:custGeom>
              <a:solidFill>
                <a:srgbClr val="99FF33"/>
              </a:solidFill>
              <a:ln>
                <a:noFill/>
              </a:ln>
            </p:spPr>
            <p:txBody>
              <a:bodyPr spcFirstLastPara="1" wrap="square" lIns="73141" tIns="73141" rIns="73141" bIns="73141" anchor="ctr" anchorCtr="0">
                <a:noAutofit/>
              </a:bodyPr>
              <a:lstStyle/>
              <a:p>
                <a:endParaRPr sz="1440"/>
              </a:p>
            </p:txBody>
          </p:sp>
          <p:sp>
            <p:nvSpPr>
              <p:cNvPr id="19" name="Google Shape;123;p14">
                <a:extLst>
                  <a:ext uri="{FF2B5EF4-FFF2-40B4-BE49-F238E27FC236}">
                    <a16:creationId xmlns:a16="http://schemas.microsoft.com/office/drawing/2014/main" id="{BCBFFDA3-0799-5C11-895B-11FDAC769FFF}"/>
                  </a:ext>
                </a:extLst>
              </p:cNvPr>
              <p:cNvSpPr txBox="1"/>
              <p:nvPr/>
            </p:nvSpPr>
            <p:spPr>
              <a:xfrm>
                <a:off x="1838519" y="4365641"/>
                <a:ext cx="859448" cy="7257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>
                  <a:lnSpc>
                    <a:spcPct val="119979"/>
                  </a:lnSpc>
                </a:pPr>
                <a:r>
                  <a:rPr lang="en-US" sz="3840" dirty="0"/>
                  <a:t>1</a:t>
                </a:r>
                <a:endParaRPr sz="1440" dirty="0"/>
              </a:p>
            </p:txBody>
          </p:sp>
        </p:grpSp>
        <p:sp>
          <p:nvSpPr>
            <p:cNvPr id="16" name="Google Shape;124;p14">
              <a:extLst>
                <a:ext uri="{FF2B5EF4-FFF2-40B4-BE49-F238E27FC236}">
                  <a16:creationId xmlns:a16="http://schemas.microsoft.com/office/drawing/2014/main" id="{10EB29AF-2846-4429-D062-09561431E8ED}"/>
                </a:ext>
              </a:extLst>
            </p:cNvPr>
            <p:cNvSpPr txBox="1"/>
            <p:nvPr/>
          </p:nvSpPr>
          <p:spPr>
            <a:xfrm>
              <a:off x="3193157" y="2772488"/>
              <a:ext cx="6789830" cy="9827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141" tIns="36560" rIns="73141" bIns="36560" anchor="t" anchorCtr="0">
              <a:spAutoFit/>
            </a:bodyPr>
            <a:lstStyle/>
            <a:p>
              <a:r>
                <a:rPr lang="en-US" sz="288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Md. Shahed Shamim Rony</a:t>
              </a:r>
              <a:endParaRPr sz="1440" dirty="0"/>
            </a:p>
            <a:p>
              <a:r>
                <a:rPr lang="en-US" sz="288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231902019</a:t>
              </a:r>
              <a:endParaRPr sz="1440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E7B0FAB-53C3-C586-BB6A-D7A248E617CC}"/>
              </a:ext>
            </a:extLst>
          </p:cNvPr>
          <p:cNvSpPr txBox="1"/>
          <p:nvPr/>
        </p:nvSpPr>
        <p:spPr>
          <a:xfrm>
            <a:off x="7204436" y="1033469"/>
            <a:ext cx="7380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|</a:t>
            </a:r>
            <a:endParaRPr lang="en-US" sz="1400" dirty="0"/>
          </a:p>
        </p:txBody>
      </p:sp>
      <p:grpSp>
        <p:nvGrpSpPr>
          <p:cNvPr id="2" name="Google Shape;119;p14">
            <a:extLst>
              <a:ext uri="{FF2B5EF4-FFF2-40B4-BE49-F238E27FC236}">
                <a16:creationId xmlns:a16="http://schemas.microsoft.com/office/drawing/2014/main" id="{E20FE5AE-1030-F396-EE3D-A5F0EAD625F7}"/>
              </a:ext>
            </a:extLst>
          </p:cNvPr>
          <p:cNvGrpSpPr/>
          <p:nvPr/>
        </p:nvGrpSpPr>
        <p:grpSpPr>
          <a:xfrm>
            <a:off x="330940" y="3088925"/>
            <a:ext cx="7128842" cy="1007203"/>
            <a:chOff x="1423829" y="2710860"/>
            <a:chExt cx="8911053" cy="1447831"/>
          </a:xfrm>
        </p:grpSpPr>
        <p:grpSp>
          <p:nvGrpSpPr>
            <p:cNvPr id="4" name="Google Shape;120;p14">
              <a:extLst>
                <a:ext uri="{FF2B5EF4-FFF2-40B4-BE49-F238E27FC236}">
                  <a16:creationId xmlns:a16="http://schemas.microsoft.com/office/drawing/2014/main" id="{6B1C2139-BE0F-C462-DF23-60F8B03D00C5}"/>
                </a:ext>
              </a:extLst>
            </p:cNvPr>
            <p:cNvGrpSpPr/>
            <p:nvPr/>
          </p:nvGrpSpPr>
          <p:grpSpPr>
            <a:xfrm>
              <a:off x="1423829" y="2710860"/>
              <a:ext cx="8911053" cy="1447831"/>
              <a:chOff x="1423829" y="4078532"/>
              <a:chExt cx="8911053" cy="1447831"/>
            </a:xfrm>
          </p:grpSpPr>
          <p:sp>
            <p:nvSpPr>
              <p:cNvPr id="8" name="Google Shape;121;p14">
                <a:extLst>
                  <a:ext uri="{FF2B5EF4-FFF2-40B4-BE49-F238E27FC236}">
                    <a16:creationId xmlns:a16="http://schemas.microsoft.com/office/drawing/2014/main" id="{85A7FEFE-B2E3-A6B7-9496-6EDF3E54E350}"/>
                  </a:ext>
                </a:extLst>
              </p:cNvPr>
              <p:cNvSpPr/>
              <p:nvPr/>
            </p:nvSpPr>
            <p:spPr>
              <a:xfrm>
                <a:off x="2257872" y="4078532"/>
                <a:ext cx="8077010" cy="1447831"/>
              </a:xfrm>
              <a:custGeom>
                <a:avLst/>
                <a:gdLst/>
                <a:ahLst/>
                <a:cxnLst/>
                <a:rect l="l" t="t" r="r" b="b"/>
                <a:pathLst>
                  <a:path w="10769347" h="1077468" extrusionOk="0">
                    <a:moveTo>
                      <a:pt x="0" y="535178"/>
                    </a:moveTo>
                    <a:cubicBezTo>
                      <a:pt x="0" y="239649"/>
                      <a:pt x="239649" y="0"/>
                      <a:pt x="535178" y="0"/>
                    </a:cubicBezTo>
                    <a:lnTo>
                      <a:pt x="10234168" y="0"/>
                    </a:lnTo>
                    <a:cubicBezTo>
                      <a:pt x="10529697" y="0"/>
                      <a:pt x="10769347" y="239649"/>
                      <a:pt x="10769347" y="535178"/>
                    </a:cubicBezTo>
                    <a:lnTo>
                      <a:pt x="10769347" y="542290"/>
                    </a:lnTo>
                    <a:cubicBezTo>
                      <a:pt x="10769347" y="837819"/>
                      <a:pt x="10529697" y="1077468"/>
                      <a:pt x="10234168" y="1077468"/>
                    </a:cubicBezTo>
                    <a:lnTo>
                      <a:pt x="535178" y="1077468"/>
                    </a:lnTo>
                    <a:cubicBezTo>
                      <a:pt x="239649" y="1077468"/>
                      <a:pt x="0" y="837819"/>
                      <a:pt x="0" y="54229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73141" tIns="73141" rIns="73141" bIns="73141" anchor="ctr" anchorCtr="0">
                <a:noAutofit/>
              </a:bodyPr>
              <a:lstStyle/>
              <a:p>
                <a:endParaRPr sz="1440"/>
              </a:p>
            </p:txBody>
          </p:sp>
          <p:sp>
            <p:nvSpPr>
              <p:cNvPr id="9" name="Google Shape;122;p14">
                <a:extLst>
                  <a:ext uri="{FF2B5EF4-FFF2-40B4-BE49-F238E27FC236}">
                    <a16:creationId xmlns:a16="http://schemas.microsoft.com/office/drawing/2014/main" id="{6F9EBBC5-4763-D41B-F4D6-8713460F09DB}"/>
                  </a:ext>
                </a:extLst>
              </p:cNvPr>
              <p:cNvSpPr/>
              <p:nvPr/>
            </p:nvSpPr>
            <p:spPr>
              <a:xfrm>
                <a:off x="1423829" y="4140160"/>
                <a:ext cx="1230439" cy="1223817"/>
              </a:xfrm>
              <a:custGeom>
                <a:avLst/>
                <a:gdLst/>
                <a:ahLst/>
                <a:cxnLst/>
                <a:rect l="l" t="t" r="r" b="b"/>
                <a:pathLst>
                  <a:path w="1640586" h="1549400" extrusionOk="0">
                    <a:moveTo>
                      <a:pt x="0" y="774700"/>
                    </a:moveTo>
                    <a:cubicBezTo>
                      <a:pt x="0" y="346837"/>
                      <a:pt x="367284" y="0"/>
                      <a:pt x="820293" y="0"/>
                    </a:cubicBezTo>
                    <a:cubicBezTo>
                      <a:pt x="1273302" y="0"/>
                      <a:pt x="1640586" y="346837"/>
                      <a:pt x="1640586" y="774700"/>
                    </a:cubicBezTo>
                    <a:cubicBezTo>
                      <a:pt x="1640586" y="1202563"/>
                      <a:pt x="1273302" y="1549400"/>
                      <a:pt x="820293" y="1549400"/>
                    </a:cubicBezTo>
                    <a:cubicBezTo>
                      <a:pt x="367284" y="1549400"/>
                      <a:pt x="0" y="1202563"/>
                      <a:pt x="0" y="774700"/>
                    </a:cubicBezTo>
                    <a:close/>
                  </a:path>
                </a:pathLst>
              </a:custGeom>
              <a:solidFill>
                <a:srgbClr val="99FF33"/>
              </a:solidFill>
              <a:ln>
                <a:noFill/>
              </a:ln>
            </p:spPr>
            <p:txBody>
              <a:bodyPr spcFirstLastPara="1" wrap="square" lIns="73141" tIns="73141" rIns="73141" bIns="73141" anchor="ctr" anchorCtr="0">
                <a:noAutofit/>
              </a:bodyPr>
              <a:lstStyle/>
              <a:p>
                <a:endParaRPr sz="1440"/>
              </a:p>
            </p:txBody>
          </p:sp>
          <p:sp>
            <p:nvSpPr>
              <p:cNvPr id="10" name="Google Shape;123;p14">
                <a:extLst>
                  <a:ext uri="{FF2B5EF4-FFF2-40B4-BE49-F238E27FC236}">
                    <a16:creationId xmlns:a16="http://schemas.microsoft.com/office/drawing/2014/main" id="{C9F001B6-6E2D-95AF-452F-D4334DB24C6C}"/>
                  </a:ext>
                </a:extLst>
              </p:cNvPr>
              <p:cNvSpPr txBox="1"/>
              <p:nvPr/>
            </p:nvSpPr>
            <p:spPr>
              <a:xfrm>
                <a:off x="1838519" y="4365641"/>
                <a:ext cx="859448" cy="7257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>
                  <a:lnSpc>
                    <a:spcPct val="119979"/>
                  </a:lnSpc>
                </a:pPr>
                <a:r>
                  <a:rPr lang="en-US" sz="3840" dirty="0"/>
                  <a:t>1</a:t>
                </a:r>
                <a:endParaRPr sz="1440" dirty="0"/>
              </a:p>
            </p:txBody>
          </p:sp>
        </p:grpSp>
        <p:sp>
          <p:nvSpPr>
            <p:cNvPr id="5" name="Google Shape;124;p14">
              <a:extLst>
                <a:ext uri="{FF2B5EF4-FFF2-40B4-BE49-F238E27FC236}">
                  <a16:creationId xmlns:a16="http://schemas.microsoft.com/office/drawing/2014/main" id="{BAD69633-024F-909F-239E-2F7B74460ACD}"/>
                </a:ext>
              </a:extLst>
            </p:cNvPr>
            <p:cNvSpPr txBox="1"/>
            <p:nvPr/>
          </p:nvSpPr>
          <p:spPr>
            <a:xfrm>
              <a:off x="3193157" y="2772488"/>
              <a:ext cx="6789830" cy="9827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141" tIns="36560" rIns="73141" bIns="36560" anchor="t" anchorCtr="0">
              <a:spAutoFit/>
            </a:bodyPr>
            <a:lstStyle/>
            <a:p>
              <a:r>
                <a:rPr lang="en-US" sz="288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Promod Chandra Das</a:t>
              </a:r>
              <a:endParaRPr sz="1440" dirty="0"/>
            </a:p>
            <a:p>
              <a:r>
                <a:rPr lang="en-US" sz="288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231002005</a:t>
              </a:r>
              <a:endParaRPr sz="1440" dirty="0"/>
            </a:p>
          </p:txBody>
        </p:sp>
      </p:grpSp>
      <p:grpSp>
        <p:nvGrpSpPr>
          <p:cNvPr id="11" name="Google Shape;119;p14">
            <a:extLst>
              <a:ext uri="{FF2B5EF4-FFF2-40B4-BE49-F238E27FC236}">
                <a16:creationId xmlns:a16="http://schemas.microsoft.com/office/drawing/2014/main" id="{A8EF5870-4687-2D7D-9082-C357EC1BA159}"/>
              </a:ext>
            </a:extLst>
          </p:cNvPr>
          <p:cNvGrpSpPr/>
          <p:nvPr/>
        </p:nvGrpSpPr>
        <p:grpSpPr>
          <a:xfrm>
            <a:off x="330940" y="4162291"/>
            <a:ext cx="7128842" cy="1020444"/>
            <a:chOff x="1423829" y="2710860"/>
            <a:chExt cx="8911053" cy="1447831"/>
          </a:xfrm>
        </p:grpSpPr>
        <p:grpSp>
          <p:nvGrpSpPr>
            <p:cNvPr id="12" name="Google Shape;120;p14">
              <a:extLst>
                <a:ext uri="{FF2B5EF4-FFF2-40B4-BE49-F238E27FC236}">
                  <a16:creationId xmlns:a16="http://schemas.microsoft.com/office/drawing/2014/main" id="{60783488-1141-4A9F-3EA4-ECB0D0C97CB0}"/>
                </a:ext>
              </a:extLst>
            </p:cNvPr>
            <p:cNvGrpSpPr/>
            <p:nvPr/>
          </p:nvGrpSpPr>
          <p:grpSpPr>
            <a:xfrm>
              <a:off x="1423829" y="2710860"/>
              <a:ext cx="8911053" cy="1447831"/>
              <a:chOff x="1423829" y="4078532"/>
              <a:chExt cx="8911053" cy="1447831"/>
            </a:xfrm>
          </p:grpSpPr>
          <p:sp>
            <p:nvSpPr>
              <p:cNvPr id="20" name="Google Shape;121;p14">
                <a:extLst>
                  <a:ext uri="{FF2B5EF4-FFF2-40B4-BE49-F238E27FC236}">
                    <a16:creationId xmlns:a16="http://schemas.microsoft.com/office/drawing/2014/main" id="{4A1DE46A-6573-19E4-1F82-3D35FE6FC635}"/>
                  </a:ext>
                </a:extLst>
              </p:cNvPr>
              <p:cNvSpPr/>
              <p:nvPr/>
            </p:nvSpPr>
            <p:spPr>
              <a:xfrm>
                <a:off x="2257872" y="4078532"/>
                <a:ext cx="8077010" cy="1447831"/>
              </a:xfrm>
              <a:custGeom>
                <a:avLst/>
                <a:gdLst/>
                <a:ahLst/>
                <a:cxnLst/>
                <a:rect l="l" t="t" r="r" b="b"/>
                <a:pathLst>
                  <a:path w="10769347" h="1077468" extrusionOk="0">
                    <a:moveTo>
                      <a:pt x="0" y="535178"/>
                    </a:moveTo>
                    <a:cubicBezTo>
                      <a:pt x="0" y="239649"/>
                      <a:pt x="239649" y="0"/>
                      <a:pt x="535178" y="0"/>
                    </a:cubicBezTo>
                    <a:lnTo>
                      <a:pt x="10234168" y="0"/>
                    </a:lnTo>
                    <a:cubicBezTo>
                      <a:pt x="10529697" y="0"/>
                      <a:pt x="10769347" y="239649"/>
                      <a:pt x="10769347" y="535178"/>
                    </a:cubicBezTo>
                    <a:lnTo>
                      <a:pt x="10769347" y="542290"/>
                    </a:lnTo>
                    <a:cubicBezTo>
                      <a:pt x="10769347" y="837819"/>
                      <a:pt x="10529697" y="1077468"/>
                      <a:pt x="10234168" y="1077468"/>
                    </a:cubicBezTo>
                    <a:lnTo>
                      <a:pt x="535178" y="1077468"/>
                    </a:lnTo>
                    <a:cubicBezTo>
                      <a:pt x="239649" y="1077468"/>
                      <a:pt x="0" y="837819"/>
                      <a:pt x="0" y="54229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73141" tIns="73141" rIns="73141" bIns="73141" anchor="ctr" anchorCtr="0">
                <a:noAutofit/>
              </a:bodyPr>
              <a:lstStyle/>
              <a:p>
                <a:endParaRPr sz="1440"/>
              </a:p>
            </p:txBody>
          </p:sp>
          <p:sp>
            <p:nvSpPr>
              <p:cNvPr id="21" name="Google Shape;122;p14">
                <a:extLst>
                  <a:ext uri="{FF2B5EF4-FFF2-40B4-BE49-F238E27FC236}">
                    <a16:creationId xmlns:a16="http://schemas.microsoft.com/office/drawing/2014/main" id="{389E2239-25C5-4B7E-C4F7-70FC3EF899F9}"/>
                  </a:ext>
                </a:extLst>
              </p:cNvPr>
              <p:cNvSpPr/>
              <p:nvPr/>
            </p:nvSpPr>
            <p:spPr>
              <a:xfrm>
                <a:off x="1423829" y="4140160"/>
                <a:ext cx="1230439" cy="1223817"/>
              </a:xfrm>
              <a:custGeom>
                <a:avLst/>
                <a:gdLst/>
                <a:ahLst/>
                <a:cxnLst/>
                <a:rect l="l" t="t" r="r" b="b"/>
                <a:pathLst>
                  <a:path w="1640586" h="1549400" extrusionOk="0">
                    <a:moveTo>
                      <a:pt x="0" y="774700"/>
                    </a:moveTo>
                    <a:cubicBezTo>
                      <a:pt x="0" y="346837"/>
                      <a:pt x="367284" y="0"/>
                      <a:pt x="820293" y="0"/>
                    </a:cubicBezTo>
                    <a:cubicBezTo>
                      <a:pt x="1273302" y="0"/>
                      <a:pt x="1640586" y="346837"/>
                      <a:pt x="1640586" y="774700"/>
                    </a:cubicBezTo>
                    <a:cubicBezTo>
                      <a:pt x="1640586" y="1202563"/>
                      <a:pt x="1273302" y="1549400"/>
                      <a:pt x="820293" y="1549400"/>
                    </a:cubicBezTo>
                    <a:cubicBezTo>
                      <a:pt x="367284" y="1549400"/>
                      <a:pt x="0" y="1202563"/>
                      <a:pt x="0" y="774700"/>
                    </a:cubicBezTo>
                    <a:close/>
                  </a:path>
                </a:pathLst>
              </a:custGeom>
              <a:solidFill>
                <a:srgbClr val="99FF33"/>
              </a:solidFill>
              <a:ln>
                <a:noFill/>
              </a:ln>
            </p:spPr>
            <p:txBody>
              <a:bodyPr spcFirstLastPara="1" wrap="square" lIns="73141" tIns="73141" rIns="73141" bIns="73141" anchor="ctr" anchorCtr="0">
                <a:noAutofit/>
              </a:bodyPr>
              <a:lstStyle/>
              <a:p>
                <a:endParaRPr sz="1440"/>
              </a:p>
            </p:txBody>
          </p:sp>
          <p:sp>
            <p:nvSpPr>
              <p:cNvPr id="22" name="Google Shape;123;p14">
                <a:extLst>
                  <a:ext uri="{FF2B5EF4-FFF2-40B4-BE49-F238E27FC236}">
                    <a16:creationId xmlns:a16="http://schemas.microsoft.com/office/drawing/2014/main" id="{2B713332-2916-18A9-625F-18990687B441}"/>
                  </a:ext>
                </a:extLst>
              </p:cNvPr>
              <p:cNvSpPr txBox="1"/>
              <p:nvPr/>
            </p:nvSpPr>
            <p:spPr>
              <a:xfrm>
                <a:off x="1838519" y="4365641"/>
                <a:ext cx="859448" cy="7257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>
                  <a:lnSpc>
                    <a:spcPct val="119979"/>
                  </a:lnSpc>
                </a:pPr>
                <a:r>
                  <a:rPr lang="en-US" sz="3840" dirty="0"/>
                  <a:t>1</a:t>
                </a:r>
                <a:endParaRPr sz="1440" dirty="0"/>
              </a:p>
            </p:txBody>
          </p:sp>
        </p:grpSp>
        <p:sp>
          <p:nvSpPr>
            <p:cNvPr id="13" name="Google Shape;124;p14">
              <a:extLst>
                <a:ext uri="{FF2B5EF4-FFF2-40B4-BE49-F238E27FC236}">
                  <a16:creationId xmlns:a16="http://schemas.microsoft.com/office/drawing/2014/main" id="{78A089DA-B61A-1D08-B807-581D404FA239}"/>
                </a:ext>
              </a:extLst>
            </p:cNvPr>
            <p:cNvSpPr txBox="1"/>
            <p:nvPr/>
          </p:nvSpPr>
          <p:spPr>
            <a:xfrm>
              <a:off x="3193157" y="2772488"/>
              <a:ext cx="6789830" cy="13623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141" tIns="36560" rIns="73141" bIns="36560" anchor="t" anchorCtr="0">
              <a:spAutoFit/>
            </a:bodyPr>
            <a:lstStyle/>
            <a:p>
              <a:r>
                <a:rPr lang="en-US" sz="288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Ashim Debnath</a:t>
              </a:r>
              <a:endParaRPr sz="1440" dirty="0"/>
            </a:p>
            <a:p>
              <a:r>
                <a:rPr lang="en-US" sz="288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231902038</a:t>
              </a:r>
              <a:endParaRPr sz="1440" dirty="0"/>
            </a:p>
          </p:txBody>
        </p:sp>
      </p:grpSp>
      <p:grpSp>
        <p:nvGrpSpPr>
          <p:cNvPr id="23" name="Google Shape;131;p14">
            <a:extLst>
              <a:ext uri="{FF2B5EF4-FFF2-40B4-BE49-F238E27FC236}">
                <a16:creationId xmlns:a16="http://schemas.microsoft.com/office/drawing/2014/main" id="{00061B08-BFD3-8FEE-6C8D-3C7F74BC5282}"/>
              </a:ext>
            </a:extLst>
          </p:cNvPr>
          <p:cNvGrpSpPr/>
          <p:nvPr/>
        </p:nvGrpSpPr>
        <p:grpSpPr>
          <a:xfrm>
            <a:off x="7845562" y="1970264"/>
            <a:ext cx="6461608" cy="3212471"/>
            <a:chOff x="2257872" y="2595972"/>
            <a:chExt cx="8077010" cy="1562719"/>
          </a:xfrm>
        </p:grpSpPr>
        <p:sp>
          <p:nvSpPr>
            <p:cNvPr id="24" name="Google Shape;133;p14">
              <a:extLst>
                <a:ext uri="{FF2B5EF4-FFF2-40B4-BE49-F238E27FC236}">
                  <a16:creationId xmlns:a16="http://schemas.microsoft.com/office/drawing/2014/main" id="{79200911-AACB-F8FA-C68E-6EA4FA295D75}"/>
                </a:ext>
              </a:extLst>
            </p:cNvPr>
            <p:cNvSpPr/>
            <p:nvPr/>
          </p:nvSpPr>
          <p:spPr>
            <a:xfrm>
              <a:off x="2257872" y="2595972"/>
              <a:ext cx="8077010" cy="1562719"/>
            </a:xfrm>
            <a:custGeom>
              <a:avLst/>
              <a:gdLst/>
              <a:ahLst/>
              <a:cxnLst/>
              <a:rect l="l" t="t" r="r" b="b"/>
              <a:pathLst>
                <a:path w="10769347" h="1077468" extrusionOk="0">
                  <a:moveTo>
                    <a:pt x="0" y="535178"/>
                  </a:moveTo>
                  <a:cubicBezTo>
                    <a:pt x="0" y="239649"/>
                    <a:pt x="239649" y="0"/>
                    <a:pt x="535178" y="0"/>
                  </a:cubicBezTo>
                  <a:lnTo>
                    <a:pt x="10234168" y="0"/>
                  </a:lnTo>
                  <a:cubicBezTo>
                    <a:pt x="10529697" y="0"/>
                    <a:pt x="10769347" y="239649"/>
                    <a:pt x="10769347" y="535178"/>
                  </a:cubicBezTo>
                  <a:lnTo>
                    <a:pt x="10769347" y="542290"/>
                  </a:lnTo>
                  <a:cubicBezTo>
                    <a:pt x="10769347" y="837819"/>
                    <a:pt x="10529697" y="1077468"/>
                    <a:pt x="10234168" y="1077468"/>
                  </a:cubicBezTo>
                  <a:lnTo>
                    <a:pt x="535178" y="1077468"/>
                  </a:lnTo>
                  <a:cubicBezTo>
                    <a:pt x="239649" y="1077468"/>
                    <a:pt x="0" y="837819"/>
                    <a:pt x="0" y="54229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73141" tIns="73141" rIns="73141" bIns="73141" anchor="ctr" anchorCtr="0">
              <a:noAutofit/>
            </a:bodyPr>
            <a:lstStyle/>
            <a:p>
              <a:endParaRPr sz="1440"/>
            </a:p>
          </p:txBody>
        </p:sp>
        <p:sp>
          <p:nvSpPr>
            <p:cNvPr id="25" name="Google Shape;136;p14">
              <a:extLst>
                <a:ext uri="{FF2B5EF4-FFF2-40B4-BE49-F238E27FC236}">
                  <a16:creationId xmlns:a16="http://schemas.microsoft.com/office/drawing/2014/main" id="{57B97DCD-E1C6-1674-AD05-33B0F36EC9E8}"/>
                </a:ext>
              </a:extLst>
            </p:cNvPr>
            <p:cNvSpPr txBox="1"/>
            <p:nvPr/>
          </p:nvSpPr>
          <p:spPr>
            <a:xfrm>
              <a:off x="2388654" y="2887006"/>
              <a:ext cx="7910276" cy="993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141" tIns="36560" rIns="73141" bIns="36560" anchor="t" anchorCtr="0">
              <a:spAutoFit/>
            </a:bodyPr>
            <a:lstStyle/>
            <a:p>
              <a:r>
                <a:rPr lang="en-US" sz="28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Ms. </a:t>
              </a:r>
              <a:r>
                <a:rPr lang="en-US" sz="288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Mayeesha</a:t>
              </a:r>
              <a:r>
                <a:rPr lang="en-US" sz="28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Farjana</a:t>
              </a:r>
              <a:br>
                <a:rPr lang="en-US" sz="28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-US" sz="28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Lecturer</a:t>
              </a:r>
            </a:p>
            <a:p>
              <a:r>
                <a:rPr lang="en-US" sz="28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Dept. of CSE</a:t>
              </a:r>
              <a:br>
                <a:rPr lang="en-US" sz="28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-US" sz="28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Green University of Bangladesh</a:t>
              </a:r>
              <a:endParaRPr lang="en-US" sz="2880" dirty="0"/>
            </a:p>
          </p:txBody>
        </p:sp>
      </p:grpSp>
    </p:spTree>
    <p:extLst>
      <p:ext uri="{BB962C8B-B14F-4D97-AF65-F5344CB8AC3E}">
        <p14:creationId xmlns:p14="http://schemas.microsoft.com/office/powerpoint/2010/main" val="363581961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66ED2BAE-3AE0-D78C-7161-BDBAAAB310AA}"/>
              </a:ext>
            </a:extLst>
          </p:cNvPr>
          <p:cNvSpPr/>
          <p:nvPr/>
        </p:nvSpPr>
        <p:spPr>
          <a:xfrm>
            <a:off x="0" y="3"/>
            <a:ext cx="14630400" cy="82295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" name="Text 0"/>
          <p:cNvSpPr/>
          <p:nvPr/>
        </p:nvSpPr>
        <p:spPr>
          <a:xfrm>
            <a:off x="773787" y="622221"/>
            <a:ext cx="4421862" cy="552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350"/>
              </a:lnSpc>
            </a:pPr>
            <a:r>
              <a:rPr lang="en-US" sz="3450" dirty="0">
                <a:solidFill>
                  <a:srgbClr val="3A3A3A"/>
                </a:solidFill>
                <a:latin typeface="Bodoni MT" panose="02070603080606020203" pitchFamily="18" charset="0"/>
                <a:ea typeface="Noto Serif Medium" pitchFamily="34" charset="-122"/>
                <a:cs typeface="Noto Serif Medium" pitchFamily="34" charset="-120"/>
              </a:rPr>
              <a:t>Table of Contents</a:t>
            </a:r>
            <a:endParaRPr lang="en-US" sz="3450" dirty="0">
              <a:latin typeface="Bodoni MT" panose="020706030806060202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3788" y="1605916"/>
            <a:ext cx="220981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560" dirty="0">
                <a:solidFill>
                  <a:srgbClr val="4C4C4C"/>
                </a:solidFill>
                <a:latin typeface="Nobile" panose="020B0604020202020204" charset="0"/>
                <a:ea typeface="Noto Serif Light" pitchFamily="34" charset="-122"/>
                <a:cs typeface="Noto Serif Light" pitchFamily="34" charset="-120"/>
              </a:rPr>
              <a:t>01</a:t>
            </a:r>
            <a:endParaRPr lang="en-US" sz="2400" dirty="0">
              <a:latin typeface="Nobile" panose="020B06040202020202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73787" y="1951197"/>
            <a:ext cx="6433661" cy="3048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773788" y="2122647"/>
            <a:ext cx="2763678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/>
            <a:r>
              <a:rPr lang="en-US" sz="2880" dirty="0">
                <a:solidFill>
                  <a:srgbClr val="1A1A2E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Introduction and Problem Statement</a:t>
            </a:r>
            <a:endParaRPr lang="en-US" sz="2560" dirty="0">
              <a:latin typeface="Bodoni MT" panose="020706030806060202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422953" y="1605916"/>
            <a:ext cx="220981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560" dirty="0">
                <a:solidFill>
                  <a:srgbClr val="4C4C4C"/>
                </a:solidFill>
                <a:latin typeface="Nobile" panose="020B0604020202020204" charset="0"/>
                <a:ea typeface="Noto Serif Light" pitchFamily="34" charset="-122"/>
                <a:cs typeface="Noto Serif Light" pitchFamily="34" charset="-120"/>
              </a:rPr>
              <a:t>02</a:t>
            </a:r>
            <a:endParaRPr lang="en-US" sz="2560" dirty="0">
              <a:latin typeface="Nobile" panose="020B060402020202020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22952" y="1951197"/>
            <a:ext cx="6433661" cy="3048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7422953" y="2122647"/>
            <a:ext cx="2872859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/>
            <a:r>
              <a:rPr lang="en-US" sz="2880" dirty="0">
                <a:solidFill>
                  <a:srgbClr val="1A1A2E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Objectives</a:t>
            </a:r>
          </a:p>
        </p:txBody>
      </p:sp>
      <p:sp>
        <p:nvSpPr>
          <p:cNvPr id="9" name="Text 7"/>
          <p:cNvSpPr/>
          <p:nvPr/>
        </p:nvSpPr>
        <p:spPr>
          <a:xfrm>
            <a:off x="773788" y="2849286"/>
            <a:ext cx="220981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560" dirty="0">
                <a:solidFill>
                  <a:srgbClr val="4C4C4C"/>
                </a:solidFill>
                <a:latin typeface="Nobile" panose="020B0604020202020204" charset="0"/>
                <a:ea typeface="Noto Serif Light" pitchFamily="34" charset="-122"/>
                <a:cs typeface="Noto Serif Light" pitchFamily="34" charset="-120"/>
              </a:rPr>
              <a:t>03</a:t>
            </a:r>
            <a:endParaRPr lang="en-US" sz="2560" dirty="0">
              <a:latin typeface="Nobile" panose="020B06040202020202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73787" y="3194566"/>
            <a:ext cx="6433661" cy="3048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773788" y="3366017"/>
            <a:ext cx="2763678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/>
            <a:r>
              <a:rPr lang="en-US" sz="2880" dirty="0">
                <a:solidFill>
                  <a:srgbClr val="1A1A2E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Dataset Overview and Preprocessing</a:t>
            </a:r>
          </a:p>
        </p:txBody>
      </p:sp>
      <p:sp>
        <p:nvSpPr>
          <p:cNvPr id="12" name="Text 10"/>
          <p:cNvSpPr/>
          <p:nvPr/>
        </p:nvSpPr>
        <p:spPr>
          <a:xfrm>
            <a:off x="7422953" y="2849286"/>
            <a:ext cx="220981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560" dirty="0">
                <a:solidFill>
                  <a:srgbClr val="4C4C4C"/>
                </a:solidFill>
                <a:latin typeface="Nobile" panose="020B0604020202020204" charset="0"/>
                <a:ea typeface="Noto Serif Light" pitchFamily="34" charset="-122"/>
                <a:cs typeface="Noto Serif Light" pitchFamily="34" charset="-120"/>
              </a:rPr>
              <a:t>04</a:t>
            </a:r>
            <a:endParaRPr lang="en-US" sz="2560" dirty="0">
              <a:latin typeface="Nobile" panose="020B060402020202020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422952" y="3194566"/>
            <a:ext cx="6433661" cy="3048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7422955" y="3366017"/>
            <a:ext cx="2763678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/>
            <a:r>
              <a:rPr lang="en-US" sz="2880" dirty="0">
                <a:solidFill>
                  <a:srgbClr val="1A1A2E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Methodology - 9 Module Architecture</a:t>
            </a:r>
          </a:p>
          <a:p>
            <a:pPr lvl="0"/>
            <a:endParaRPr lang="en-US" sz="2880" dirty="0">
              <a:solidFill>
                <a:srgbClr val="1A1A2E"/>
              </a:solidFill>
              <a:latin typeface="Bodoni MT" panose="02070603080606020203" pitchFamily="18" charset="0"/>
              <a:ea typeface="Calibri"/>
              <a:cs typeface="Calibri"/>
              <a:sym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3788" y="4092655"/>
            <a:ext cx="220981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560" dirty="0">
                <a:solidFill>
                  <a:srgbClr val="4C4C4C"/>
                </a:solidFill>
                <a:latin typeface="Nobile" panose="020B0604020202020204" charset="0"/>
                <a:ea typeface="Noto Serif Light" pitchFamily="34" charset="-122"/>
                <a:cs typeface="Noto Serif Light" pitchFamily="34" charset="-120"/>
              </a:rPr>
              <a:t>05</a:t>
            </a:r>
            <a:endParaRPr lang="en-US" sz="2560" dirty="0">
              <a:latin typeface="Nobile" panose="020B060402020202020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73787" y="4437936"/>
            <a:ext cx="6433661" cy="3048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773788" y="4609386"/>
            <a:ext cx="3186350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/>
            <a:r>
              <a:rPr lang="en-US" sz="2880" dirty="0">
                <a:solidFill>
                  <a:srgbClr val="1A1A2E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RFM Analysis Framework</a:t>
            </a:r>
          </a:p>
        </p:txBody>
      </p:sp>
      <p:sp>
        <p:nvSpPr>
          <p:cNvPr id="18" name="Text 16"/>
          <p:cNvSpPr/>
          <p:nvPr/>
        </p:nvSpPr>
        <p:spPr>
          <a:xfrm>
            <a:off x="7422953" y="4092655"/>
            <a:ext cx="220981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560" dirty="0">
                <a:solidFill>
                  <a:srgbClr val="4C4C4C"/>
                </a:solidFill>
                <a:latin typeface="Nobile" panose="020B0604020202020204" charset="0"/>
                <a:ea typeface="Noto Serif Light" pitchFamily="34" charset="-122"/>
                <a:cs typeface="Noto Serif Light" pitchFamily="34" charset="-120"/>
              </a:rPr>
              <a:t>06</a:t>
            </a:r>
            <a:endParaRPr lang="en-US" sz="2560" dirty="0">
              <a:latin typeface="Nobile" panose="020B060402020202020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422952" y="4437936"/>
            <a:ext cx="6433661" cy="3048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7422954" y="4609386"/>
            <a:ext cx="3012518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/>
            <a:r>
              <a:rPr lang="en-US" sz="2880" dirty="0">
                <a:solidFill>
                  <a:srgbClr val="1A1A2E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Customer Segmentation Results</a:t>
            </a:r>
          </a:p>
          <a:p>
            <a:pPr lvl="0"/>
            <a:endParaRPr lang="en-US" sz="2880" dirty="0">
              <a:solidFill>
                <a:srgbClr val="1A1A2E"/>
              </a:solidFill>
              <a:latin typeface="Bodoni MT" panose="02070603080606020203" pitchFamily="18" charset="0"/>
              <a:ea typeface="Calibri"/>
              <a:cs typeface="Calibri"/>
              <a:sym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73788" y="5336025"/>
            <a:ext cx="220981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560" dirty="0">
                <a:solidFill>
                  <a:srgbClr val="4C4C4C"/>
                </a:solidFill>
                <a:latin typeface="Nobile" panose="020B0604020202020204" charset="0"/>
                <a:ea typeface="Noto Serif Light" pitchFamily="34" charset="-122"/>
                <a:cs typeface="Noto Serif Light" pitchFamily="34" charset="-120"/>
              </a:rPr>
              <a:t>07</a:t>
            </a:r>
            <a:endParaRPr lang="en-US" sz="2560" dirty="0">
              <a:latin typeface="Nobile" panose="020B060402020202020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73787" y="5681306"/>
            <a:ext cx="6433661" cy="3048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773788" y="5852756"/>
            <a:ext cx="2763678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/>
            <a:r>
              <a:rPr lang="en-US" sz="2880" dirty="0">
                <a:solidFill>
                  <a:srgbClr val="1A1A2E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Machine Learning Model Performance</a:t>
            </a:r>
          </a:p>
        </p:txBody>
      </p:sp>
      <p:sp>
        <p:nvSpPr>
          <p:cNvPr id="24" name="Text 22"/>
          <p:cNvSpPr/>
          <p:nvPr/>
        </p:nvSpPr>
        <p:spPr>
          <a:xfrm>
            <a:off x="7422953" y="5336025"/>
            <a:ext cx="220981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560" dirty="0">
                <a:solidFill>
                  <a:srgbClr val="4C4C4C"/>
                </a:solidFill>
                <a:latin typeface="Nobile" panose="020B0604020202020204" charset="0"/>
                <a:ea typeface="Noto Serif Light" pitchFamily="34" charset="-122"/>
                <a:cs typeface="Noto Serif Light" pitchFamily="34" charset="-120"/>
              </a:rPr>
              <a:t>08</a:t>
            </a:r>
            <a:endParaRPr lang="en-US" sz="2560" dirty="0">
              <a:latin typeface="Nobile" panose="020B060402020202020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422952" y="5681306"/>
            <a:ext cx="6433661" cy="3048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7422952" y="5852756"/>
            <a:ext cx="3361968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/>
            <a:r>
              <a:rPr lang="en-US" sz="2880" dirty="0">
                <a:solidFill>
                  <a:srgbClr val="1A1A2E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Association Rules (FP-Growth)</a:t>
            </a:r>
          </a:p>
        </p:txBody>
      </p:sp>
      <p:sp>
        <p:nvSpPr>
          <p:cNvPr id="27" name="Text 25"/>
          <p:cNvSpPr/>
          <p:nvPr/>
        </p:nvSpPr>
        <p:spPr>
          <a:xfrm>
            <a:off x="773788" y="6579394"/>
            <a:ext cx="220981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560" dirty="0">
                <a:solidFill>
                  <a:srgbClr val="4C4C4C"/>
                </a:solidFill>
                <a:latin typeface="Nobile" panose="020B0604020202020204" charset="0"/>
                <a:ea typeface="Noto Serif Light" pitchFamily="34" charset="-122"/>
                <a:cs typeface="Noto Serif Light" pitchFamily="34" charset="-120"/>
              </a:rPr>
              <a:t>09</a:t>
            </a:r>
            <a:endParaRPr lang="en-US" sz="2560" dirty="0">
              <a:latin typeface="Nobile" panose="020B060402020202020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73787" y="6924675"/>
            <a:ext cx="6433661" cy="3048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29" name="Text 27"/>
          <p:cNvSpPr/>
          <p:nvPr/>
        </p:nvSpPr>
        <p:spPr>
          <a:xfrm>
            <a:off x="773788" y="7096126"/>
            <a:ext cx="3499246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/>
            <a:r>
              <a:rPr lang="en-US" sz="2880" dirty="0">
                <a:solidFill>
                  <a:srgbClr val="1A1A2E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Anomaly Detection</a:t>
            </a:r>
          </a:p>
        </p:txBody>
      </p:sp>
      <p:sp>
        <p:nvSpPr>
          <p:cNvPr id="30" name="Text 28"/>
          <p:cNvSpPr/>
          <p:nvPr/>
        </p:nvSpPr>
        <p:spPr>
          <a:xfrm>
            <a:off x="7422953" y="6579394"/>
            <a:ext cx="220981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560" dirty="0">
                <a:solidFill>
                  <a:srgbClr val="4C4C4C"/>
                </a:solidFill>
                <a:latin typeface="Nobile" panose="020B0604020202020204" charset="0"/>
                <a:ea typeface="Noto Serif Light" pitchFamily="34" charset="-122"/>
                <a:cs typeface="Noto Serif Light" pitchFamily="34" charset="-120"/>
              </a:rPr>
              <a:t>10</a:t>
            </a:r>
            <a:endParaRPr lang="en-US" sz="2560" dirty="0">
              <a:latin typeface="Nobile" panose="020B060402020202020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422952" y="6924675"/>
            <a:ext cx="6433661" cy="3048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32" name="Text 30"/>
          <p:cNvSpPr/>
          <p:nvPr/>
        </p:nvSpPr>
        <p:spPr>
          <a:xfrm>
            <a:off x="7422952" y="7096126"/>
            <a:ext cx="5496214" cy="624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/>
            <a:r>
              <a:rPr lang="en-US" sz="2880" dirty="0">
                <a:solidFill>
                  <a:srgbClr val="1A1A2E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Business Insights &amp; Recommendations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E281EB2-99B8-F8EF-AEF2-57ECAE947D2B}"/>
              </a:ext>
            </a:extLst>
          </p:cNvPr>
          <p:cNvSpPr/>
          <p:nvPr/>
        </p:nvSpPr>
        <p:spPr>
          <a:xfrm>
            <a:off x="12684034" y="7720150"/>
            <a:ext cx="1867989" cy="455278"/>
          </a:xfrm>
          <a:prstGeom prst="rect">
            <a:avLst/>
          </a:prstGeom>
          <a:solidFill>
            <a:srgbClr val="FDFBF7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4" name="Google Shape;105;p13">
            <a:extLst>
              <a:ext uri="{FF2B5EF4-FFF2-40B4-BE49-F238E27FC236}">
                <a16:creationId xmlns:a16="http://schemas.microsoft.com/office/drawing/2014/main" id="{70D10C02-0866-6646-79AA-8FD72591B855}"/>
              </a:ext>
            </a:extLst>
          </p:cNvPr>
          <p:cNvSpPr txBox="1"/>
          <p:nvPr/>
        </p:nvSpPr>
        <p:spPr>
          <a:xfrm>
            <a:off x="13539593" y="7616213"/>
            <a:ext cx="1220618" cy="51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7"/>
              </a:lnSpc>
            </a:pPr>
            <a:r>
              <a:rPr lang="en-US" sz="2798" dirty="0"/>
              <a:t>3</a:t>
            </a:r>
            <a:endParaRPr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DC75A8A-FA1B-4D44-0719-7E7B70458B17}"/>
              </a:ext>
            </a:extLst>
          </p:cNvPr>
          <p:cNvSpPr/>
          <p:nvPr/>
        </p:nvSpPr>
        <p:spPr>
          <a:xfrm>
            <a:off x="12618720" y="7444450"/>
            <a:ext cx="1932384" cy="666206"/>
          </a:xfrm>
          <a:prstGeom prst="rect">
            <a:avLst/>
          </a:prstGeom>
          <a:solidFill>
            <a:srgbClr val="F9F9FF"/>
          </a:solidFill>
          <a:ln>
            <a:solidFill>
              <a:srgbClr val="F9F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2D9F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6" y="118943"/>
            <a:ext cx="5327809" cy="79917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623768"/>
            <a:ext cx="7399973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Problem Statement &amp; Proposed Solution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6280190" y="1411605"/>
            <a:ext cx="3584615" cy="2965133"/>
          </a:xfrm>
          <a:prstGeom prst="roundRect">
            <a:avLst>
              <a:gd name="adj" fmla="val 2249"/>
            </a:avLst>
          </a:prstGeom>
          <a:solidFill>
            <a:srgbClr val="FFB3B4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1602105"/>
            <a:ext cx="248007" cy="19835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45618" y="1562338"/>
            <a:ext cx="212074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THE CHALLENGE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6845618" y="1921431"/>
            <a:ext cx="2860477" cy="1079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Retail businesses generate massive transaction data but struggle to extract actionable insights.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6845618" y="3101102"/>
            <a:ext cx="2860477" cy="1157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Hidden purchasing patterns undiscovered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Fraudulent transactions undetected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data-driven segmentation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10259616" y="1411605"/>
            <a:ext cx="3584615" cy="2965133"/>
          </a:xfrm>
          <a:prstGeom prst="roundRect">
            <a:avLst>
              <a:gd name="adj" fmla="val 2291"/>
            </a:avLst>
          </a:prstGeom>
          <a:solidFill>
            <a:srgbClr val="B6FCB8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8326" y="1602105"/>
            <a:ext cx="248007" cy="19835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825043" y="1562338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OUR SOLUTION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10825043" y="1921431"/>
            <a:ext cx="2860477" cy="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Comprehensive ML-powered analytics system with 9 integrated modules.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0825043" y="2831187"/>
            <a:ext cx="2860477" cy="1373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RFM-based customer segmentation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FP-Growth association rule mining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Anomaly detection &amp; fraud prevention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6644164" y="4706064"/>
            <a:ext cx="1698308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4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1,067,371</a:t>
            </a:r>
            <a:endParaRPr lang="en-US" sz="4100" dirty="0"/>
          </a:p>
        </p:txBody>
      </p:sp>
      <p:sp>
        <p:nvSpPr>
          <p:cNvPr id="16" name="Text 11"/>
          <p:cNvSpPr/>
          <p:nvPr/>
        </p:nvSpPr>
        <p:spPr>
          <a:xfrm>
            <a:off x="6500932" y="5392579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Original Records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9209246" y="4706064"/>
            <a:ext cx="1698308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4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686,764</a:t>
            </a:r>
            <a:endParaRPr lang="en-US" sz="4100" dirty="0"/>
          </a:p>
        </p:txBody>
      </p:sp>
      <p:sp>
        <p:nvSpPr>
          <p:cNvPr id="18" name="Text 13"/>
          <p:cNvSpPr/>
          <p:nvPr/>
        </p:nvSpPr>
        <p:spPr>
          <a:xfrm>
            <a:off x="9066014" y="5392579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Clean Records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1774329" y="4706064"/>
            <a:ext cx="1698308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4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5,675</a:t>
            </a:r>
            <a:endParaRPr lang="en-US" sz="4100" dirty="0"/>
          </a:p>
        </p:txBody>
      </p:sp>
      <p:sp>
        <p:nvSpPr>
          <p:cNvPr id="20" name="Text 15"/>
          <p:cNvSpPr/>
          <p:nvPr/>
        </p:nvSpPr>
        <p:spPr>
          <a:xfrm>
            <a:off x="11631097" y="5392579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Customers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9209246" y="5942171"/>
            <a:ext cx="1698308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4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£8.8M</a:t>
            </a:r>
            <a:endParaRPr lang="en-US" sz="4100" dirty="0"/>
          </a:p>
        </p:txBody>
      </p:sp>
      <p:sp>
        <p:nvSpPr>
          <p:cNvPr id="22" name="Text 17"/>
          <p:cNvSpPr/>
          <p:nvPr/>
        </p:nvSpPr>
        <p:spPr>
          <a:xfrm>
            <a:off x="9066014" y="6628686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Revenue</a:t>
            </a:r>
            <a:endParaRPr lang="en-US" sz="1550" dirty="0"/>
          </a:p>
        </p:txBody>
      </p:sp>
      <p:sp>
        <p:nvSpPr>
          <p:cNvPr id="25" name="Google Shape;105;p13">
            <a:extLst>
              <a:ext uri="{FF2B5EF4-FFF2-40B4-BE49-F238E27FC236}">
                <a16:creationId xmlns:a16="http://schemas.microsoft.com/office/drawing/2014/main" id="{97DE6D8B-692D-A874-1EFB-E8B717B99D06}"/>
              </a:ext>
            </a:extLst>
          </p:cNvPr>
          <p:cNvSpPr txBox="1"/>
          <p:nvPr/>
        </p:nvSpPr>
        <p:spPr>
          <a:xfrm>
            <a:off x="13539593" y="7616213"/>
            <a:ext cx="1220618" cy="51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7"/>
              </a:lnSpc>
            </a:pPr>
            <a:r>
              <a:rPr lang="en-US" sz="2798" dirty="0"/>
              <a:t>4</a:t>
            </a:r>
            <a:endParaRPr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2D9F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296" y="118943"/>
            <a:ext cx="5327809" cy="79917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885349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Objectives</a:t>
            </a:r>
            <a:endParaRPr lang="en-US" sz="3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1548170"/>
            <a:ext cx="396835" cy="39683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93790" y="2083832"/>
            <a:ext cx="200560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Analyze Transactions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793790" y="2398514"/>
            <a:ext cx="3708797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Analyze large-scale retail transactions to extract actionable insights.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1413" y="1548170"/>
            <a:ext cx="396835" cy="39683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641413" y="2083832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Clean &amp; Preprocess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4641413" y="2398514"/>
            <a:ext cx="3708797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Perform robust cleaning and preprocessing for analysis reliability.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3052763"/>
            <a:ext cx="396835" cy="39683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93790" y="3588425"/>
            <a:ext cx="2254210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Customer Segmentation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793790" y="3903107"/>
            <a:ext cx="3708797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 RFM to segment customers for targeted strategies.</a:t>
            </a: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1413" y="3052763"/>
            <a:ext cx="396835" cy="39683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641413" y="3588425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Predictive Modeling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4641413" y="3903107"/>
            <a:ext cx="3708797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Train predictive models to forecast customer behavior and segments.</a:t>
            </a:r>
            <a:endParaRPr lang="en-US" sz="12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557355"/>
            <a:ext cx="396835" cy="396835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93790" y="5093018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Association Rules</a:t>
            </a:r>
            <a:endParaRPr lang="en-US" sz="1550" dirty="0"/>
          </a:p>
        </p:txBody>
      </p:sp>
      <p:sp>
        <p:nvSpPr>
          <p:cNvPr id="19" name="Text 11"/>
          <p:cNvSpPr/>
          <p:nvPr/>
        </p:nvSpPr>
        <p:spPr>
          <a:xfrm>
            <a:off x="793790" y="5407700"/>
            <a:ext cx="3708797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Mine association rules to surface cross-sell and bundling opportunities.</a:t>
            </a:r>
            <a:endParaRPr lang="en-US" sz="12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41413" y="4557355"/>
            <a:ext cx="396835" cy="396835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4641413" y="5093018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Fraud Detection</a:t>
            </a:r>
            <a:endParaRPr lang="en-US" sz="1550" dirty="0"/>
          </a:p>
        </p:txBody>
      </p:sp>
      <p:sp>
        <p:nvSpPr>
          <p:cNvPr id="22" name="Text 13"/>
          <p:cNvSpPr/>
          <p:nvPr/>
        </p:nvSpPr>
        <p:spPr>
          <a:xfrm>
            <a:off x="4641413" y="5407700"/>
            <a:ext cx="3708797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Detect anomalous/fraudulent transactions for risk mitigation.</a:t>
            </a:r>
            <a:endParaRPr lang="en-US" sz="125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6061948"/>
            <a:ext cx="396835" cy="396835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93790" y="6597610"/>
            <a:ext cx="264675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Business Recommendations</a:t>
            </a:r>
            <a:endParaRPr lang="en-US" sz="1550" dirty="0"/>
          </a:p>
        </p:txBody>
      </p:sp>
      <p:sp>
        <p:nvSpPr>
          <p:cNvPr id="25" name="Text 15"/>
          <p:cNvSpPr/>
          <p:nvPr/>
        </p:nvSpPr>
        <p:spPr>
          <a:xfrm>
            <a:off x="793790" y="6912293"/>
            <a:ext cx="3708797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Deliver data-driven business recommendations to boost revenue and retention.</a:t>
            </a:r>
            <a:endParaRPr lang="en-US" sz="1250" dirty="0"/>
          </a:p>
        </p:txBody>
      </p:sp>
      <p:sp>
        <p:nvSpPr>
          <p:cNvPr id="26" name="Google Shape;105;p13">
            <a:extLst>
              <a:ext uri="{FF2B5EF4-FFF2-40B4-BE49-F238E27FC236}">
                <a16:creationId xmlns:a16="http://schemas.microsoft.com/office/drawing/2014/main" id="{44671277-EA98-FEB6-07DA-C97B79488FBD}"/>
              </a:ext>
            </a:extLst>
          </p:cNvPr>
          <p:cNvSpPr txBox="1"/>
          <p:nvPr/>
        </p:nvSpPr>
        <p:spPr>
          <a:xfrm>
            <a:off x="13539593" y="7616213"/>
            <a:ext cx="1220618" cy="51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7"/>
              </a:lnSpc>
            </a:pPr>
            <a:r>
              <a:rPr lang="en-US" sz="2798" dirty="0"/>
              <a:t>5</a:t>
            </a:r>
            <a:endParaRPr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4980"/>
            <a:ext cx="6077188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Dataset Overview — Online Retail II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93790" y="1293971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Key Attributes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93790" y="1775817"/>
            <a:ext cx="6341626" cy="845939"/>
          </a:xfrm>
          <a:prstGeom prst="roundRect">
            <a:avLst>
              <a:gd name="adj" fmla="val 7320"/>
            </a:avLst>
          </a:prstGeom>
          <a:solidFill>
            <a:srgbClr val="F9F9FF">
              <a:alpha val="95000"/>
            </a:srgbClr>
          </a:solidFill>
          <a:ln w="15240">
            <a:solidFill>
              <a:srgbClr val="B8BF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6429" y="1938457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Invoice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56429" y="2264569"/>
            <a:ext cx="6016347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Transaction ID (6-digit)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93790" y="2717483"/>
            <a:ext cx="6341626" cy="845939"/>
          </a:xfrm>
          <a:prstGeom prst="roundRect">
            <a:avLst>
              <a:gd name="adj" fmla="val 7320"/>
            </a:avLst>
          </a:prstGeom>
          <a:solidFill>
            <a:srgbClr val="F9F9FF">
              <a:alpha val="95000"/>
            </a:srgbClr>
          </a:solidFill>
          <a:ln w="15240">
            <a:solidFill>
              <a:srgbClr val="B8BF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6429" y="2880122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StockCode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56429" y="3206234"/>
            <a:ext cx="6016347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Product code (5-digit)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3790" y="3659148"/>
            <a:ext cx="6341626" cy="845939"/>
          </a:xfrm>
          <a:prstGeom prst="roundRect">
            <a:avLst>
              <a:gd name="adj" fmla="val 7320"/>
            </a:avLst>
          </a:prstGeom>
          <a:solidFill>
            <a:srgbClr val="F9F9FF">
              <a:alpha val="95000"/>
            </a:srgbClr>
          </a:solidFill>
          <a:ln w="15240">
            <a:solidFill>
              <a:srgbClr val="B8BF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6429" y="3821787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Description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6429" y="4147899"/>
            <a:ext cx="6016347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Product name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3790" y="4600813"/>
            <a:ext cx="6341626" cy="845939"/>
          </a:xfrm>
          <a:prstGeom prst="roundRect">
            <a:avLst>
              <a:gd name="adj" fmla="val 7320"/>
            </a:avLst>
          </a:prstGeom>
          <a:solidFill>
            <a:srgbClr val="F9F9FF">
              <a:alpha val="95000"/>
            </a:srgbClr>
          </a:solidFill>
          <a:ln w="15240">
            <a:solidFill>
              <a:srgbClr val="B8BF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6429" y="4763453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Quantity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56429" y="5089565"/>
            <a:ext cx="6016347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Items per transaction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502604" y="1775817"/>
            <a:ext cx="6341626" cy="845939"/>
          </a:xfrm>
          <a:prstGeom prst="roundRect">
            <a:avLst>
              <a:gd name="adj" fmla="val 7320"/>
            </a:avLst>
          </a:prstGeom>
          <a:solidFill>
            <a:srgbClr val="F9F9FF">
              <a:alpha val="95000"/>
            </a:srgbClr>
          </a:solidFill>
          <a:ln w="15240">
            <a:solidFill>
              <a:srgbClr val="B8BF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65244" y="1938457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InvoiceDate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665244" y="2264569"/>
            <a:ext cx="6016347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Date and time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502604" y="2717483"/>
            <a:ext cx="6341626" cy="845939"/>
          </a:xfrm>
          <a:prstGeom prst="roundRect">
            <a:avLst>
              <a:gd name="adj" fmla="val 7320"/>
            </a:avLst>
          </a:prstGeom>
          <a:solidFill>
            <a:srgbClr val="F9F9FF">
              <a:alpha val="95000"/>
            </a:srgbClr>
          </a:solidFill>
          <a:ln w="15240">
            <a:solidFill>
              <a:srgbClr val="B8BF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65244" y="2880122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Price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665244" y="3206234"/>
            <a:ext cx="6016347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Unit price in GBP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502604" y="3659148"/>
            <a:ext cx="6341626" cy="845939"/>
          </a:xfrm>
          <a:prstGeom prst="roundRect">
            <a:avLst>
              <a:gd name="adj" fmla="val 7320"/>
            </a:avLst>
          </a:prstGeom>
          <a:solidFill>
            <a:srgbClr val="F9F9FF">
              <a:alpha val="95000"/>
            </a:srgbClr>
          </a:solidFill>
          <a:ln w="15240">
            <a:solidFill>
              <a:srgbClr val="B8BF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65244" y="3821787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CustomerID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665244" y="4147899"/>
            <a:ext cx="6016347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Unique 5-digit ID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502604" y="4600813"/>
            <a:ext cx="6341626" cy="845939"/>
          </a:xfrm>
          <a:prstGeom prst="roundRect">
            <a:avLst>
              <a:gd name="adj" fmla="val 7320"/>
            </a:avLst>
          </a:prstGeom>
          <a:solidFill>
            <a:srgbClr val="F9F9FF">
              <a:alpha val="95000"/>
            </a:srgbClr>
          </a:solidFill>
          <a:ln w="15240">
            <a:solidFill>
              <a:srgbClr val="B8BF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65244" y="4763453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Country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665244" y="5089565"/>
            <a:ext cx="6016347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Customer location (41 countries)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93790" y="5662255"/>
            <a:ext cx="4283750" cy="838319"/>
          </a:xfrm>
          <a:prstGeom prst="roundRect">
            <a:avLst>
              <a:gd name="adj" fmla="val 7387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8809" y="5817275"/>
            <a:ext cx="2211467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1,067,371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48809" y="6151007"/>
            <a:ext cx="397371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Original Records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173266" y="5662255"/>
            <a:ext cx="4283750" cy="838319"/>
          </a:xfrm>
          <a:prstGeom prst="roundRect">
            <a:avLst>
              <a:gd name="adj" fmla="val 7387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28285" y="5817275"/>
            <a:ext cx="2211467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686,764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328285" y="6151007"/>
            <a:ext cx="397371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After Cleaning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552742" y="5662255"/>
            <a:ext cx="4283869" cy="838319"/>
          </a:xfrm>
          <a:prstGeom prst="roundRect">
            <a:avLst>
              <a:gd name="adj" fmla="val 7387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07761" y="5817275"/>
            <a:ext cx="2211467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5,675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9707761" y="6151007"/>
            <a:ext cx="3973830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Unique Customers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93790" y="6596301"/>
            <a:ext cx="6473547" cy="838319"/>
          </a:xfrm>
          <a:prstGeom prst="roundRect">
            <a:avLst>
              <a:gd name="adj" fmla="val 7387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8809" y="6751320"/>
            <a:ext cx="2211467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4,835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948809" y="7085052"/>
            <a:ext cx="616350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Products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363063" y="6596301"/>
            <a:ext cx="6473547" cy="838319"/>
          </a:xfrm>
          <a:prstGeom prst="roundRect">
            <a:avLst>
              <a:gd name="adj" fmla="val 7387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18083" y="6751320"/>
            <a:ext cx="2211467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£8,825,609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7518083" y="7085052"/>
            <a:ext cx="616350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Total Revenue</a:t>
            </a:r>
            <a:endParaRPr lang="en-US" sz="115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212549A-7EC0-72CC-F080-4B41E98E9D03}"/>
              </a:ext>
            </a:extLst>
          </p:cNvPr>
          <p:cNvSpPr/>
          <p:nvPr/>
        </p:nvSpPr>
        <p:spPr>
          <a:xfrm>
            <a:off x="12736286" y="7720149"/>
            <a:ext cx="1789611" cy="404948"/>
          </a:xfrm>
          <a:prstGeom prst="rect">
            <a:avLst/>
          </a:prstGeom>
          <a:solidFill>
            <a:srgbClr val="F9F9FF"/>
          </a:solidFill>
          <a:ln>
            <a:solidFill>
              <a:srgbClr val="F9F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Google Shape;105;p13">
            <a:extLst>
              <a:ext uri="{FF2B5EF4-FFF2-40B4-BE49-F238E27FC236}">
                <a16:creationId xmlns:a16="http://schemas.microsoft.com/office/drawing/2014/main" id="{F93C1B16-9EA8-AB7D-EBF5-66D0448D226A}"/>
              </a:ext>
            </a:extLst>
          </p:cNvPr>
          <p:cNvSpPr txBox="1"/>
          <p:nvPr/>
        </p:nvSpPr>
        <p:spPr>
          <a:xfrm>
            <a:off x="13539593" y="7616213"/>
            <a:ext cx="1220618" cy="51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7"/>
              </a:lnSpc>
            </a:pPr>
            <a:r>
              <a:rPr lang="en-US" sz="2798" dirty="0"/>
              <a:t>6</a:t>
            </a:r>
            <a:endParaRPr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2D9F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1" y="93226"/>
            <a:ext cx="5362099" cy="80431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56246" y="532686"/>
            <a:ext cx="5467588" cy="388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Methodology — 9-Module Architecture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156246" y="1023699"/>
            <a:ext cx="7804309" cy="154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modular pipeline ensures reproducibility and clear responsibilities across the full workflow.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246" y="1441013"/>
            <a:ext cx="3867983" cy="1143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80547" y="1882378"/>
            <a:ext cx="177462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M1 — Data Preprocessing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280547" y="2117527"/>
            <a:ext cx="3619381" cy="308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Missing values, deduplication, outliers, and timestamp parsing.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2452" y="1254442"/>
            <a:ext cx="3868103" cy="1143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16753" y="1695807"/>
            <a:ext cx="186963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M2 — Feature Engineering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10216753" y="1930956"/>
            <a:ext cx="3619500" cy="308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TotalPrice, RFM metrics, and time features (Year, Month, DayOfWeek, IsWeekend).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246" y="2804755"/>
            <a:ext cx="3867983" cy="11430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80547" y="3246120"/>
            <a:ext cx="1554956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M3 — EDA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280547" y="3481268"/>
            <a:ext cx="3619381" cy="154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Explore patterns, distributions, and relationships in the data.</a:t>
            </a:r>
            <a:endParaRPr lang="en-US" sz="9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2452" y="2618184"/>
            <a:ext cx="3868103" cy="11430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216753" y="3059549"/>
            <a:ext cx="2305526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M4 — Dimensionality Reduction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10216753" y="3294697"/>
            <a:ext cx="3619500" cy="308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PCA applied for 2D visualization of RFM clusters and HighValue separation.</a:t>
            </a:r>
            <a:endParaRPr lang="en-US" sz="9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246" y="4014430"/>
            <a:ext cx="3867983" cy="11430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280547" y="4455795"/>
            <a:ext cx="1554956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M5 — FP-Growth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6280547" y="4690943"/>
            <a:ext cx="3619381" cy="308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Mine frequent itemsets and generate rules for cross-sell insights.</a:t>
            </a:r>
            <a:endParaRPr lang="en-US" sz="9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2452" y="3827859"/>
            <a:ext cx="3868103" cy="11430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0216753" y="4269224"/>
            <a:ext cx="1554956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M6 — Clustering</a:t>
            </a:r>
            <a:endParaRPr lang="en-US" sz="1200" dirty="0"/>
          </a:p>
        </p:txBody>
      </p:sp>
      <p:sp>
        <p:nvSpPr>
          <p:cNvPr id="23" name="Text 14"/>
          <p:cNvSpPr/>
          <p:nvPr/>
        </p:nvSpPr>
        <p:spPr>
          <a:xfrm>
            <a:off x="10216753" y="4504373"/>
            <a:ext cx="3619500" cy="308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Group customers into segments with similar behaviors and value profiles.</a:t>
            </a:r>
            <a:endParaRPr lang="en-US" sz="95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246" y="5378172"/>
            <a:ext cx="3867983" cy="11430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280547" y="5819537"/>
            <a:ext cx="1554956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M7 — Classification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6280547" y="6054685"/>
            <a:ext cx="3619381" cy="154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Predict labels or outcomes using supervised learning models.</a:t>
            </a:r>
            <a:endParaRPr lang="en-US" sz="95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2452" y="5191601"/>
            <a:ext cx="3868103" cy="114300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10216753" y="5632966"/>
            <a:ext cx="1787604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M8 — Ensemble Methods</a:t>
            </a:r>
            <a:endParaRPr lang="en-US" sz="1200" dirty="0"/>
          </a:p>
        </p:txBody>
      </p:sp>
      <p:sp>
        <p:nvSpPr>
          <p:cNvPr id="29" name="Text 18"/>
          <p:cNvSpPr/>
          <p:nvPr/>
        </p:nvSpPr>
        <p:spPr>
          <a:xfrm>
            <a:off x="10216753" y="5868114"/>
            <a:ext cx="3619500" cy="308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Combine models to improve robustness and overall performance.</a:t>
            </a:r>
            <a:endParaRPr lang="en-US" sz="95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246" y="6587847"/>
            <a:ext cx="3867983" cy="114300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6280547" y="7029212"/>
            <a:ext cx="1790462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M9 — Anomaly Detection</a:t>
            </a:r>
            <a:endParaRPr lang="en-US" sz="1200" dirty="0"/>
          </a:p>
        </p:txBody>
      </p:sp>
      <p:sp>
        <p:nvSpPr>
          <p:cNvPr id="32" name="Text 20"/>
          <p:cNvSpPr/>
          <p:nvPr/>
        </p:nvSpPr>
        <p:spPr>
          <a:xfrm>
            <a:off x="6280547" y="7264360"/>
            <a:ext cx="3619381" cy="308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Flag unusual transactions, behaviors, and potential fraud signals.</a:t>
            </a:r>
            <a:endParaRPr lang="en-US" sz="95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580BC1B-B9E4-0D49-8F79-79B0F8E595C6}"/>
              </a:ext>
            </a:extLst>
          </p:cNvPr>
          <p:cNvSpPr/>
          <p:nvPr/>
        </p:nvSpPr>
        <p:spPr>
          <a:xfrm>
            <a:off x="12749349" y="7730847"/>
            <a:ext cx="1818900" cy="405527"/>
          </a:xfrm>
          <a:prstGeom prst="rect">
            <a:avLst/>
          </a:prstGeom>
          <a:solidFill>
            <a:srgbClr val="F9F9FF"/>
          </a:solidFill>
          <a:ln>
            <a:solidFill>
              <a:srgbClr val="F9F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Google Shape;105;p13">
            <a:extLst>
              <a:ext uri="{FF2B5EF4-FFF2-40B4-BE49-F238E27FC236}">
                <a16:creationId xmlns:a16="http://schemas.microsoft.com/office/drawing/2014/main" id="{EC50A4BB-1B3B-3364-7E8E-FEDE04DC9379}"/>
              </a:ext>
            </a:extLst>
          </p:cNvPr>
          <p:cNvSpPr txBox="1"/>
          <p:nvPr/>
        </p:nvSpPr>
        <p:spPr>
          <a:xfrm>
            <a:off x="13539593" y="7616213"/>
            <a:ext cx="1220618" cy="51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7"/>
              </a:lnSpc>
            </a:pPr>
            <a:r>
              <a:rPr lang="en-US" sz="2798" dirty="0"/>
              <a:t>7</a:t>
            </a:r>
            <a:endParaRPr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2D9F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119902"/>
            <a:ext cx="70487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RFM Analysis Framework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2168843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RFM metrics were computed and scored into quintiles (1–5).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Combined scores form segments:     Champions (555), Loyal (454), At Risk (155), Lost (111), etc. Quintile scoring enables     targeted actions per segment.   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3875603"/>
            <a:ext cx="3664744" cy="1685092"/>
          </a:xfrm>
          <a:prstGeom prst="roundRect">
            <a:avLst>
              <a:gd name="adj" fmla="val 5654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8224" y="41100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Recency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8224" y="4600456"/>
            <a:ext cx="31958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Days since last purchase — average: 92 days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4685348" y="3875603"/>
            <a:ext cx="3664863" cy="1685092"/>
          </a:xfrm>
          <a:prstGeom prst="roundRect">
            <a:avLst>
              <a:gd name="adj" fmla="val 5654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19782" y="41100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Frequency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919782" y="4600456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Average orders per customer: 4.3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787509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28224" y="60219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Monetary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28224" y="6512362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Average spend per customer: £1,555</a:t>
            </a:r>
            <a:endParaRPr lang="en-US" sz="1750" dirty="0"/>
          </a:p>
        </p:txBody>
      </p:sp>
      <p:sp>
        <p:nvSpPr>
          <p:cNvPr id="15" name="Google Shape;105;p13">
            <a:extLst>
              <a:ext uri="{FF2B5EF4-FFF2-40B4-BE49-F238E27FC236}">
                <a16:creationId xmlns:a16="http://schemas.microsoft.com/office/drawing/2014/main" id="{50B6F514-DA5D-DB8E-F89A-C8F8AB787FB2}"/>
              </a:ext>
            </a:extLst>
          </p:cNvPr>
          <p:cNvSpPr txBox="1"/>
          <p:nvPr/>
        </p:nvSpPr>
        <p:spPr>
          <a:xfrm>
            <a:off x="13539593" y="7616213"/>
            <a:ext cx="1220618" cy="51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7"/>
              </a:lnSpc>
            </a:pPr>
            <a:r>
              <a:rPr lang="en-US" sz="2798" dirty="0"/>
              <a:t>8</a:t>
            </a:r>
            <a:endParaRPr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34195"/>
            <a:ext cx="3961090" cy="39610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5536" y="895588"/>
            <a:ext cx="683633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Customer Segmentation Results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195536" y="1607701"/>
            <a:ext cx="7648575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Breakdown of 5,675 customers by 7 RFM segments. Key counts and strategic actions: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195536" y="2032159"/>
            <a:ext cx="3751659" cy="1490305"/>
          </a:xfrm>
          <a:prstGeom prst="roundRect">
            <a:avLst>
              <a:gd name="adj" fmla="val 7363"/>
            </a:avLst>
          </a:prstGeom>
          <a:solidFill>
            <a:srgbClr val="F9F9FF">
              <a:alpha val="95000"/>
            </a:srgbClr>
          </a:solidFill>
          <a:ln w="22860">
            <a:solidFill>
              <a:srgbClr val="B8BF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72676" y="2032159"/>
            <a:ext cx="91440" cy="1490305"/>
          </a:xfrm>
          <a:prstGeom prst="roundRect">
            <a:avLst>
              <a:gd name="adj" fmla="val 83349"/>
            </a:avLst>
          </a:prstGeom>
          <a:solidFill>
            <a:srgbClr val="4967E9"/>
          </a:solidFill>
          <a:ln/>
        </p:spPr>
      </p:sp>
      <p:sp>
        <p:nvSpPr>
          <p:cNvPr id="7" name="Text 4"/>
          <p:cNvSpPr/>
          <p:nvPr/>
        </p:nvSpPr>
        <p:spPr>
          <a:xfrm>
            <a:off x="6468428" y="223647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Champions (21.9%)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468428" y="2665095"/>
            <a:ext cx="327445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1,240 customers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68428" y="3056930"/>
            <a:ext cx="327445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Prioritize retention and VIP offers.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0092333" y="2032159"/>
            <a:ext cx="3751778" cy="1490305"/>
          </a:xfrm>
          <a:prstGeom prst="roundRect">
            <a:avLst>
              <a:gd name="adj" fmla="val 7363"/>
            </a:avLst>
          </a:prstGeom>
          <a:solidFill>
            <a:srgbClr val="F9F9FF">
              <a:alpha val="95000"/>
            </a:srgbClr>
          </a:solidFill>
          <a:ln w="22860">
            <a:solidFill>
              <a:srgbClr val="B8BFD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69473" y="2032159"/>
            <a:ext cx="91440" cy="1490305"/>
          </a:xfrm>
          <a:prstGeom prst="roundRect">
            <a:avLst>
              <a:gd name="adj" fmla="val 83349"/>
            </a:avLst>
          </a:prstGeom>
          <a:solidFill>
            <a:srgbClr val="4967E9"/>
          </a:solidFill>
          <a:ln/>
        </p:spPr>
      </p:sp>
      <p:sp>
        <p:nvSpPr>
          <p:cNvPr id="12" name="Text 9"/>
          <p:cNvSpPr/>
          <p:nvPr/>
        </p:nvSpPr>
        <p:spPr>
          <a:xfrm>
            <a:off x="10365224" y="223647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Loyal (19.2%)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365224" y="2665095"/>
            <a:ext cx="3274576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1,088 customers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365224" y="3056930"/>
            <a:ext cx="3274576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Drive upsell and loyalty programs.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95536" y="3667601"/>
            <a:ext cx="3751659" cy="1751528"/>
          </a:xfrm>
          <a:prstGeom prst="roundRect">
            <a:avLst>
              <a:gd name="adj" fmla="val 6265"/>
            </a:avLst>
          </a:prstGeom>
          <a:solidFill>
            <a:srgbClr val="F9F9FF">
              <a:alpha val="95000"/>
            </a:srgbClr>
          </a:solidFill>
          <a:ln w="22860">
            <a:solidFill>
              <a:srgbClr val="B8BFD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72676" y="3667601"/>
            <a:ext cx="91440" cy="1751528"/>
          </a:xfrm>
          <a:prstGeom prst="roundRect">
            <a:avLst>
              <a:gd name="adj" fmla="val 83349"/>
            </a:avLst>
          </a:prstGeom>
          <a:solidFill>
            <a:srgbClr val="4967E9"/>
          </a:solidFill>
          <a:ln/>
        </p:spPr>
      </p:sp>
      <p:sp>
        <p:nvSpPr>
          <p:cNvPr id="17" name="Text 14"/>
          <p:cNvSpPr/>
          <p:nvPr/>
        </p:nvSpPr>
        <p:spPr>
          <a:xfrm>
            <a:off x="6468428" y="387191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Cannot Lose Them (10.4%)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6468428" y="4300538"/>
            <a:ext cx="327445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590 customers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68428" y="4692372"/>
            <a:ext cx="3274457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Urgent win-back with exclusive high-value offers.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10092333" y="3667601"/>
            <a:ext cx="3751778" cy="1751528"/>
          </a:xfrm>
          <a:prstGeom prst="roundRect">
            <a:avLst>
              <a:gd name="adj" fmla="val 6265"/>
            </a:avLst>
          </a:prstGeom>
          <a:solidFill>
            <a:srgbClr val="F9F9FF">
              <a:alpha val="95000"/>
            </a:srgbClr>
          </a:solidFill>
          <a:ln w="22860">
            <a:solidFill>
              <a:srgbClr val="B8BFD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069473" y="3667601"/>
            <a:ext cx="91440" cy="1751528"/>
          </a:xfrm>
          <a:prstGeom prst="roundRect">
            <a:avLst>
              <a:gd name="adj" fmla="val 83349"/>
            </a:avLst>
          </a:prstGeom>
          <a:solidFill>
            <a:srgbClr val="4967E9"/>
          </a:solidFill>
          <a:ln/>
        </p:spPr>
      </p:sp>
      <p:sp>
        <p:nvSpPr>
          <p:cNvPr id="22" name="Text 19"/>
          <p:cNvSpPr/>
          <p:nvPr/>
        </p:nvSpPr>
        <p:spPr>
          <a:xfrm>
            <a:off x="10365224" y="387191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Lost (21.2%)</a:t>
            </a:r>
            <a:endParaRPr lang="en-US" sz="1750" dirty="0"/>
          </a:p>
        </p:txBody>
      </p:sp>
      <p:sp>
        <p:nvSpPr>
          <p:cNvPr id="23" name="Text 20"/>
          <p:cNvSpPr/>
          <p:nvPr/>
        </p:nvSpPr>
        <p:spPr>
          <a:xfrm>
            <a:off x="10365224" y="4300538"/>
            <a:ext cx="3274576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1,204 customers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0365224" y="4692372"/>
            <a:ext cx="3274576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Run re-engagement campaigns.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195536" y="5564267"/>
            <a:ext cx="3751659" cy="1751528"/>
          </a:xfrm>
          <a:prstGeom prst="roundRect">
            <a:avLst>
              <a:gd name="adj" fmla="val 6265"/>
            </a:avLst>
          </a:prstGeom>
          <a:solidFill>
            <a:srgbClr val="F9F9FF">
              <a:alpha val="95000"/>
            </a:srgbClr>
          </a:solidFill>
          <a:ln w="22860">
            <a:solidFill>
              <a:srgbClr val="B8BFD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172676" y="5564267"/>
            <a:ext cx="91440" cy="1751528"/>
          </a:xfrm>
          <a:prstGeom prst="roundRect">
            <a:avLst>
              <a:gd name="adj" fmla="val 83349"/>
            </a:avLst>
          </a:prstGeom>
          <a:solidFill>
            <a:srgbClr val="4967E9"/>
          </a:solidFill>
          <a:ln/>
        </p:spPr>
      </p:sp>
      <p:sp>
        <p:nvSpPr>
          <p:cNvPr id="27" name="Text 24"/>
          <p:cNvSpPr/>
          <p:nvPr/>
        </p:nvSpPr>
        <p:spPr>
          <a:xfrm>
            <a:off x="6468428" y="576857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At Risk (10.4%)</a:t>
            </a:r>
            <a:endParaRPr lang="en-US" sz="1750" dirty="0"/>
          </a:p>
        </p:txBody>
      </p:sp>
      <p:sp>
        <p:nvSpPr>
          <p:cNvPr id="28" name="Text 25"/>
          <p:cNvSpPr/>
          <p:nvPr/>
        </p:nvSpPr>
        <p:spPr>
          <a:xfrm>
            <a:off x="6468428" y="6197203"/>
            <a:ext cx="327445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593 customers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468428" y="6589038"/>
            <a:ext cx="327445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Launch targeted win-back efforts.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10092333" y="5564267"/>
            <a:ext cx="3751778" cy="1751528"/>
          </a:xfrm>
          <a:prstGeom prst="roundRect">
            <a:avLst>
              <a:gd name="adj" fmla="val 6265"/>
            </a:avLst>
          </a:prstGeom>
          <a:solidFill>
            <a:srgbClr val="F9F9FF">
              <a:alpha val="95000"/>
            </a:srgbClr>
          </a:solidFill>
          <a:ln w="22860">
            <a:solidFill>
              <a:srgbClr val="B8BFD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069473" y="5564267"/>
            <a:ext cx="91440" cy="1751528"/>
          </a:xfrm>
          <a:prstGeom prst="roundRect">
            <a:avLst>
              <a:gd name="adj" fmla="val 83349"/>
            </a:avLst>
          </a:prstGeom>
          <a:solidFill>
            <a:srgbClr val="4967E9"/>
          </a:solidFill>
          <a:ln/>
        </p:spPr>
      </p:sp>
      <p:sp>
        <p:nvSpPr>
          <p:cNvPr id="32" name="Text 29"/>
          <p:cNvSpPr/>
          <p:nvPr/>
        </p:nvSpPr>
        <p:spPr>
          <a:xfrm>
            <a:off x="10365224" y="576857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New (7.8%)</a:t>
            </a:r>
            <a:endParaRPr lang="en-US" sz="1750" dirty="0"/>
          </a:p>
        </p:txBody>
      </p:sp>
      <p:sp>
        <p:nvSpPr>
          <p:cNvPr id="33" name="Text 30"/>
          <p:cNvSpPr/>
          <p:nvPr/>
        </p:nvSpPr>
        <p:spPr>
          <a:xfrm>
            <a:off x="10365224" y="6197203"/>
            <a:ext cx="3274576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445 customers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10365224" y="6589038"/>
            <a:ext cx="3274576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Focus on onboarding and welcome incentives.</a:t>
            </a:r>
            <a:endParaRPr lang="en-US" sz="14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AC1E38E-8BF9-FA2C-8D97-3D09EEC34C87}"/>
              </a:ext>
            </a:extLst>
          </p:cNvPr>
          <p:cNvSpPr/>
          <p:nvPr/>
        </p:nvSpPr>
        <p:spPr>
          <a:xfrm>
            <a:off x="12775474" y="7602583"/>
            <a:ext cx="1750423" cy="509451"/>
          </a:xfrm>
          <a:prstGeom prst="rect">
            <a:avLst/>
          </a:prstGeom>
          <a:solidFill>
            <a:srgbClr val="F9F9FF"/>
          </a:solidFill>
          <a:ln>
            <a:solidFill>
              <a:srgbClr val="F9F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Google Shape;105;p13">
            <a:extLst>
              <a:ext uri="{FF2B5EF4-FFF2-40B4-BE49-F238E27FC236}">
                <a16:creationId xmlns:a16="http://schemas.microsoft.com/office/drawing/2014/main" id="{D391EE37-32CD-7248-9E40-EB0AF5E71B20}"/>
              </a:ext>
            </a:extLst>
          </p:cNvPr>
          <p:cNvSpPr txBox="1"/>
          <p:nvPr/>
        </p:nvSpPr>
        <p:spPr>
          <a:xfrm>
            <a:off x="13539593" y="7616213"/>
            <a:ext cx="1220618" cy="51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7"/>
              </a:lnSpc>
            </a:pPr>
            <a:r>
              <a:rPr lang="en-US" sz="2798" dirty="0"/>
              <a:t>9</a:t>
            </a:r>
            <a:endParaRPr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2D9F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26" y="136088"/>
            <a:ext cx="5304949" cy="79574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794385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Machine Learning Model Performance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6280190" y="2145983"/>
            <a:ext cx="7556421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    7 classifiers evaluated: Logistic Regression, Decision Tree, Random Forest, KNN, Naive Bayes, SVM, Gradient Boosting. Tree-based models achieved 100% accuracy. Ensemble methods (Bagging, AdaBoost, Stacking) also applied.       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648926" y="3183612"/>
            <a:ext cx="2949893" cy="59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100%</a:t>
            </a:r>
            <a:endParaRPr lang="en-US" sz="4700" dirty="0"/>
          </a:p>
        </p:txBody>
      </p:sp>
      <p:sp>
        <p:nvSpPr>
          <p:cNvPr id="7" name="Text 4"/>
          <p:cNvSpPr/>
          <p:nvPr/>
        </p:nvSpPr>
        <p:spPr>
          <a:xfrm>
            <a:off x="6989802" y="3981926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Tree Models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4352449"/>
            <a:ext cx="3687485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Decision Tree · Random Forest · Gradient Boost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517862" y="3183612"/>
            <a:ext cx="2949893" cy="59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98.1%</a:t>
            </a:r>
            <a:endParaRPr lang="en-US" sz="4700" dirty="0"/>
          </a:p>
        </p:txBody>
      </p:sp>
      <p:sp>
        <p:nvSpPr>
          <p:cNvPr id="10" name="Text 7"/>
          <p:cNvSpPr/>
          <p:nvPr/>
        </p:nvSpPr>
        <p:spPr>
          <a:xfrm>
            <a:off x="10858738" y="3981926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Logistic Regression · KNN · Naive Bayes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8583335" y="5255895"/>
            <a:ext cx="2949893" cy="59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98.0%</a:t>
            </a:r>
            <a:endParaRPr lang="en-US" sz="4700" dirty="0"/>
          </a:p>
        </p:txBody>
      </p:sp>
      <p:sp>
        <p:nvSpPr>
          <p:cNvPr id="12" name="Text 9"/>
          <p:cNvSpPr/>
          <p:nvPr/>
        </p:nvSpPr>
        <p:spPr>
          <a:xfrm>
            <a:off x="8924211" y="6054209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SVM · Bagging · AdaBoost · Stacking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80190" y="6500932"/>
            <a:ext cx="7556421" cy="934283"/>
          </a:xfrm>
          <a:prstGeom prst="roundRect">
            <a:avLst>
              <a:gd name="adj" fmla="val 8158"/>
            </a:avLst>
          </a:prstGeom>
          <a:solidFill>
            <a:srgbClr val="B6D6FC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641" y="6744176"/>
            <a:ext cx="226814" cy="18145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69906" y="6691432"/>
            <a:ext cx="6785253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Monetary value is the dominant predictor. Stacking (RF + SVM + KNN) achieved highest ensemble accuracy.</a:t>
            </a:r>
            <a:endParaRPr lang="en-US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2CCFE2-09C7-CD67-201C-44CD24F2F966}"/>
              </a:ext>
            </a:extLst>
          </p:cNvPr>
          <p:cNvSpPr/>
          <p:nvPr/>
        </p:nvSpPr>
        <p:spPr>
          <a:xfrm>
            <a:off x="12775474" y="7667897"/>
            <a:ext cx="1764200" cy="425614"/>
          </a:xfrm>
          <a:prstGeom prst="rect">
            <a:avLst/>
          </a:prstGeom>
          <a:solidFill>
            <a:srgbClr val="F9F9FF"/>
          </a:solidFill>
          <a:ln>
            <a:solidFill>
              <a:srgbClr val="F9F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Google Shape;105;p13">
            <a:extLst>
              <a:ext uri="{FF2B5EF4-FFF2-40B4-BE49-F238E27FC236}">
                <a16:creationId xmlns:a16="http://schemas.microsoft.com/office/drawing/2014/main" id="{82D2BE79-4CA3-61DE-CCE5-20AAB428ACEB}"/>
              </a:ext>
            </a:extLst>
          </p:cNvPr>
          <p:cNvSpPr txBox="1"/>
          <p:nvPr/>
        </p:nvSpPr>
        <p:spPr>
          <a:xfrm>
            <a:off x="13539593" y="7616213"/>
            <a:ext cx="1220618" cy="51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7"/>
              </a:lnSpc>
            </a:pPr>
            <a:r>
              <a:rPr lang="en-US" sz="2798" dirty="0"/>
              <a:t>10</a:t>
            </a:r>
            <a:endParaRPr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678537"/>
            <a:ext cx="5224224" cy="446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Association Rules — FP-Growth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69025" y="1304568"/>
            <a:ext cx="13092351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FP-Growth was used to build an FP-Tree, mine conditional patterns, extract frequent itemsets, and generate association rules. Thresholds: min support 1%, min confidence 30%, min lift 1.5.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25" y="2020253"/>
            <a:ext cx="4304109" cy="1143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1781" y="2538532"/>
            <a:ext cx="1785342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FP-Tree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1781" y="2815709"/>
            <a:ext cx="4018598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Compactly organize transactions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3026" y="1806059"/>
            <a:ext cx="4304228" cy="1143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05782" y="2324338"/>
            <a:ext cx="1785342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Conditional Patterns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305782" y="2601516"/>
            <a:ext cx="4018717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Mine item combinations efficiently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7147" y="1591866"/>
            <a:ext cx="4304109" cy="1143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99903" y="2110145"/>
            <a:ext cx="1785342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Association Rules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9699903" y="2387322"/>
            <a:ext cx="4018598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Surface actionable product relationships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769025" y="3459956"/>
            <a:ext cx="4304109" cy="1404818"/>
          </a:xfrm>
          <a:prstGeom prst="roundRect">
            <a:avLst>
              <a:gd name="adj" fmla="val 5207"/>
            </a:avLst>
          </a:prstGeom>
          <a:solidFill>
            <a:srgbClr val="F9F9FF">
              <a:alpha val="95000"/>
            </a:srgbClr>
          </a:solidFill>
          <a:ln/>
        </p:spPr>
      </p:sp>
      <p:sp>
        <p:nvSpPr>
          <p:cNvPr id="14" name="Shape 9"/>
          <p:cNvSpPr/>
          <p:nvPr/>
        </p:nvSpPr>
        <p:spPr>
          <a:xfrm>
            <a:off x="769025" y="3444716"/>
            <a:ext cx="4304109" cy="60960"/>
          </a:xfrm>
          <a:prstGeom prst="roundRect">
            <a:avLst>
              <a:gd name="adj" fmla="val 98407"/>
            </a:avLst>
          </a:prstGeom>
          <a:solidFill>
            <a:srgbClr val="4967E9"/>
          </a:solidFill>
          <a:ln/>
        </p:spPr>
      </p:sp>
      <p:sp>
        <p:nvSpPr>
          <p:cNvPr id="15" name="Shape 10"/>
          <p:cNvSpPr/>
          <p:nvPr/>
        </p:nvSpPr>
        <p:spPr>
          <a:xfrm>
            <a:off x="2706886" y="3245763"/>
            <a:ext cx="428387" cy="428387"/>
          </a:xfrm>
          <a:prstGeom prst="roundRect">
            <a:avLst>
              <a:gd name="adj" fmla="val 213452"/>
            </a:avLst>
          </a:prstGeom>
          <a:solidFill>
            <a:srgbClr val="4967E9"/>
          </a:solidFill>
          <a:ln/>
        </p:spPr>
      </p:sp>
      <p:sp>
        <p:nvSpPr>
          <p:cNvPr id="16" name="Text 11"/>
          <p:cNvSpPr/>
          <p:nvPr/>
        </p:nvSpPr>
        <p:spPr>
          <a:xfrm>
            <a:off x="927021" y="3817025"/>
            <a:ext cx="1785342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Tea Cup → Tea Pot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927021" y="4094202"/>
            <a:ext cx="3988118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Confidence: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78% · </a:t>
            </a: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Lift: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4.2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927021" y="4334351"/>
            <a:ext cx="3988118" cy="372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Strong bundling candidate for paired promotions and complementary merchandising.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163026" y="3459956"/>
            <a:ext cx="4304228" cy="1404818"/>
          </a:xfrm>
          <a:prstGeom prst="roundRect">
            <a:avLst>
              <a:gd name="adj" fmla="val 5207"/>
            </a:avLst>
          </a:prstGeom>
          <a:solidFill>
            <a:srgbClr val="F9F9FF">
              <a:alpha val="95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5163026" y="3444716"/>
            <a:ext cx="4304228" cy="60960"/>
          </a:xfrm>
          <a:prstGeom prst="roundRect">
            <a:avLst>
              <a:gd name="adj" fmla="val 98407"/>
            </a:avLst>
          </a:prstGeom>
          <a:solidFill>
            <a:srgbClr val="4967E9"/>
          </a:solidFill>
          <a:ln/>
        </p:spPr>
      </p:sp>
      <p:sp>
        <p:nvSpPr>
          <p:cNvPr id="21" name="Shape 16"/>
          <p:cNvSpPr/>
          <p:nvPr/>
        </p:nvSpPr>
        <p:spPr>
          <a:xfrm>
            <a:off x="7100888" y="3245763"/>
            <a:ext cx="428387" cy="428387"/>
          </a:xfrm>
          <a:prstGeom prst="roundRect">
            <a:avLst>
              <a:gd name="adj" fmla="val 213452"/>
            </a:avLst>
          </a:prstGeom>
          <a:solidFill>
            <a:srgbClr val="4967E9"/>
          </a:solidFill>
          <a:ln/>
        </p:spPr>
      </p:sp>
      <p:sp>
        <p:nvSpPr>
          <p:cNvPr id="22" name="Text 17"/>
          <p:cNvSpPr/>
          <p:nvPr/>
        </p:nvSpPr>
        <p:spPr>
          <a:xfrm>
            <a:off x="5321022" y="3817025"/>
            <a:ext cx="3181588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Christmas Lights → Glass Ornaments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5321022" y="4094202"/>
            <a:ext cx="3988237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Confidence: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65% · </a:t>
            </a: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Lift: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3.8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5321022" y="4334351"/>
            <a:ext cx="3988237" cy="372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Seasonal cross-sell opportunity in Q4 and holiday display planning.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9557147" y="3459956"/>
            <a:ext cx="4304109" cy="1404818"/>
          </a:xfrm>
          <a:prstGeom prst="roundRect">
            <a:avLst>
              <a:gd name="adj" fmla="val 5207"/>
            </a:avLst>
          </a:prstGeom>
          <a:solidFill>
            <a:srgbClr val="F9F9FF">
              <a:alpha val="95000"/>
            </a:srgbClr>
          </a:solidFill>
          <a:ln/>
        </p:spPr>
      </p:sp>
      <p:sp>
        <p:nvSpPr>
          <p:cNvPr id="26" name="Shape 21"/>
          <p:cNvSpPr/>
          <p:nvPr/>
        </p:nvSpPr>
        <p:spPr>
          <a:xfrm>
            <a:off x="9557147" y="3444716"/>
            <a:ext cx="4304109" cy="60960"/>
          </a:xfrm>
          <a:prstGeom prst="roundRect">
            <a:avLst>
              <a:gd name="adj" fmla="val 98407"/>
            </a:avLst>
          </a:prstGeom>
          <a:solidFill>
            <a:srgbClr val="4967E9"/>
          </a:solidFill>
          <a:ln/>
        </p:spPr>
      </p:sp>
      <p:sp>
        <p:nvSpPr>
          <p:cNvPr id="27" name="Shape 22"/>
          <p:cNvSpPr/>
          <p:nvPr/>
        </p:nvSpPr>
        <p:spPr>
          <a:xfrm>
            <a:off x="11495008" y="3245763"/>
            <a:ext cx="428387" cy="428387"/>
          </a:xfrm>
          <a:prstGeom prst="roundRect">
            <a:avLst>
              <a:gd name="adj" fmla="val 213452"/>
            </a:avLst>
          </a:prstGeom>
          <a:solidFill>
            <a:srgbClr val="4967E9"/>
          </a:solidFill>
          <a:ln/>
        </p:spPr>
      </p:sp>
      <p:sp>
        <p:nvSpPr>
          <p:cNvPr id="28" name="Text 23"/>
          <p:cNvSpPr/>
          <p:nvPr/>
        </p:nvSpPr>
        <p:spPr>
          <a:xfrm>
            <a:off x="9715143" y="3817025"/>
            <a:ext cx="2199561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Lunch Bag → Water Bottle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9715143" y="4094202"/>
            <a:ext cx="3988118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Confidence: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52% · </a:t>
            </a: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Lift: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2.9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9715143" y="4334351"/>
            <a:ext cx="3988118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Consider bundled discounts for school and office buyers.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769025" y="4965859"/>
            <a:ext cx="13092351" cy="1834039"/>
          </a:xfrm>
          <a:prstGeom prst="roundRect">
            <a:avLst>
              <a:gd name="adj" fmla="val 327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919639" y="5035034"/>
            <a:ext cx="3372207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Rule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4584978" y="5035034"/>
            <a:ext cx="2060734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6938843" y="5035034"/>
            <a:ext cx="1537573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Lift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8769548" y="5035034"/>
            <a:ext cx="4941451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Business Insight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919639" y="5351978"/>
            <a:ext cx="3372207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Tea Cup → Tea Pot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4584978" y="5351978"/>
            <a:ext cx="2060734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78%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6938843" y="5351978"/>
            <a:ext cx="1537573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4.2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8769548" y="5351978"/>
            <a:ext cx="4941451" cy="372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Best candidate for paired promotions; place products together to encourage add-on purchases.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919639" y="5855137"/>
            <a:ext cx="3372207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Christmas Lights → Glass Ornaments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4584978" y="5855137"/>
            <a:ext cx="2060734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65%</a:t>
            </a:r>
            <a:endParaRPr lang="en-US" sz="1100" dirty="0"/>
          </a:p>
        </p:txBody>
      </p:sp>
      <p:sp>
        <p:nvSpPr>
          <p:cNvPr id="42" name="Text 37"/>
          <p:cNvSpPr/>
          <p:nvPr/>
        </p:nvSpPr>
        <p:spPr>
          <a:xfrm>
            <a:off x="6938843" y="5855137"/>
            <a:ext cx="1537573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3.8</a:t>
            </a:r>
            <a:endParaRPr lang="en-US" sz="1100" dirty="0"/>
          </a:p>
        </p:txBody>
      </p:sp>
      <p:sp>
        <p:nvSpPr>
          <p:cNvPr id="43" name="Text 38"/>
          <p:cNvSpPr/>
          <p:nvPr/>
        </p:nvSpPr>
        <p:spPr>
          <a:xfrm>
            <a:off x="8769548" y="5855137"/>
            <a:ext cx="4941451" cy="372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 in holiday bundles, seasonal endcaps, and Q4 campaign recommendations.</a:t>
            </a:r>
            <a:endParaRPr lang="en-US" sz="1100" dirty="0"/>
          </a:p>
        </p:txBody>
      </p:sp>
      <p:sp>
        <p:nvSpPr>
          <p:cNvPr id="44" name="Text 39"/>
          <p:cNvSpPr/>
          <p:nvPr/>
        </p:nvSpPr>
        <p:spPr>
          <a:xfrm>
            <a:off x="919639" y="6358295"/>
            <a:ext cx="3372207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Lunch Bag → Water Bottle</a:t>
            </a:r>
            <a:endParaRPr lang="en-US" sz="1100" dirty="0"/>
          </a:p>
        </p:txBody>
      </p:sp>
      <p:sp>
        <p:nvSpPr>
          <p:cNvPr id="45" name="Text 40"/>
          <p:cNvSpPr/>
          <p:nvPr/>
        </p:nvSpPr>
        <p:spPr>
          <a:xfrm>
            <a:off x="4584978" y="6358295"/>
            <a:ext cx="2060734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52%</a:t>
            </a:r>
            <a:endParaRPr lang="en-US" sz="1100" dirty="0"/>
          </a:p>
        </p:txBody>
      </p:sp>
      <p:sp>
        <p:nvSpPr>
          <p:cNvPr id="46" name="Text 41"/>
          <p:cNvSpPr/>
          <p:nvPr/>
        </p:nvSpPr>
        <p:spPr>
          <a:xfrm>
            <a:off x="6938843" y="6358295"/>
            <a:ext cx="1537573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2.9</a:t>
            </a:r>
            <a:endParaRPr lang="en-US" sz="1100" dirty="0"/>
          </a:p>
        </p:txBody>
      </p:sp>
      <p:sp>
        <p:nvSpPr>
          <p:cNvPr id="47" name="Text 42"/>
          <p:cNvSpPr/>
          <p:nvPr/>
        </p:nvSpPr>
        <p:spPr>
          <a:xfrm>
            <a:off x="8769548" y="6358295"/>
            <a:ext cx="4941451" cy="372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Bundle for back-to-school and commuter shoppers with targeted discounts.</a:t>
            </a:r>
            <a:endParaRPr lang="en-US" sz="1100" dirty="0"/>
          </a:p>
        </p:txBody>
      </p:sp>
      <p:sp>
        <p:nvSpPr>
          <p:cNvPr id="48" name="Shape 43"/>
          <p:cNvSpPr/>
          <p:nvPr/>
        </p:nvSpPr>
        <p:spPr>
          <a:xfrm>
            <a:off x="769025" y="6900982"/>
            <a:ext cx="13092351" cy="650081"/>
          </a:xfrm>
          <a:prstGeom prst="roundRect">
            <a:avLst>
              <a:gd name="adj" fmla="val 9228"/>
            </a:avLst>
          </a:prstGeom>
          <a:solidFill>
            <a:srgbClr val="B6D6FC"/>
          </a:solidFill>
          <a:ln/>
        </p:spPr>
      </p:sp>
      <p:pic>
        <p:nvPicPr>
          <p:cNvPr id="4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781" y="7083862"/>
            <a:ext cx="178475" cy="142756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1233011" y="7026473"/>
            <a:ext cx="12485608" cy="372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Summary: Frequent itemsets mined at 1% support. Strong rules filtered at confidence ≥30% and lift ≥1.5. Prioritize high-lift rules for targeted promotions, cross-sell bundles, and product placement.</a:t>
            </a:r>
            <a:endParaRPr lang="en-US" sz="11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F846EA0-B95E-381A-64F9-59EEA9AED154}"/>
              </a:ext>
            </a:extLst>
          </p:cNvPr>
          <p:cNvSpPr/>
          <p:nvPr/>
        </p:nvSpPr>
        <p:spPr>
          <a:xfrm>
            <a:off x="12788537" y="7694023"/>
            <a:ext cx="1737360" cy="474617"/>
          </a:xfrm>
          <a:prstGeom prst="rect">
            <a:avLst/>
          </a:prstGeom>
          <a:solidFill>
            <a:srgbClr val="F9F9FF"/>
          </a:solidFill>
          <a:ln>
            <a:solidFill>
              <a:srgbClr val="F9F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Google Shape;105;p13">
            <a:extLst>
              <a:ext uri="{FF2B5EF4-FFF2-40B4-BE49-F238E27FC236}">
                <a16:creationId xmlns:a16="http://schemas.microsoft.com/office/drawing/2014/main" id="{646DE5E6-97AC-4211-7333-AF648A00A169}"/>
              </a:ext>
            </a:extLst>
          </p:cNvPr>
          <p:cNvSpPr txBox="1"/>
          <p:nvPr/>
        </p:nvSpPr>
        <p:spPr>
          <a:xfrm>
            <a:off x="13539593" y="7616213"/>
            <a:ext cx="1220618" cy="51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7"/>
              </a:lnSpc>
            </a:pPr>
            <a:r>
              <a:rPr lang="en-US" sz="2798" dirty="0"/>
              <a:t>11</a:t>
            </a:r>
            <a:endParaRPr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6899"/>
            <a:ext cx="4686776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Anomaly Detection Results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793790" y="1619131"/>
            <a:ext cx="6341626" cy="2436376"/>
          </a:xfrm>
          <a:prstGeom prst="roundRect">
            <a:avLst>
              <a:gd name="adj" fmla="val 2542"/>
            </a:avLst>
          </a:prstGeom>
          <a:solidFill>
            <a:srgbClr val="D2D9F9"/>
          </a:solidFill>
          <a:ln w="7620">
            <a:solidFill>
              <a:srgbClr val="FFD1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8809" y="1774150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FFD1D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372" y="1895713"/>
            <a:ext cx="198953" cy="1989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48809" y="2312075"/>
            <a:ext cx="2275761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ISOLATION FOREST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48809" y="2684145"/>
            <a:ext cx="6031587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Tree-based anomaly detection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948809" y="2974419"/>
            <a:ext cx="5086588" cy="635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284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948809" y="3705939"/>
            <a:ext cx="6031587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(5.0%)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502604" y="1619131"/>
            <a:ext cx="6341626" cy="2436376"/>
          </a:xfrm>
          <a:prstGeom prst="roundRect">
            <a:avLst>
              <a:gd name="adj" fmla="val 2542"/>
            </a:avLst>
          </a:prstGeom>
          <a:solidFill>
            <a:srgbClr val="D2D9F9"/>
          </a:solidFill>
          <a:ln w="7620">
            <a:solidFill>
              <a:srgbClr val="FFFAC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57624" y="1774150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FFFACD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9187" y="1895713"/>
            <a:ext cx="198953" cy="19895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57624" y="2312075"/>
            <a:ext cx="2903696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LOCAL OUTLIER FACTOR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657624" y="2684145"/>
            <a:ext cx="6031587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Density-based detection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7657624" y="2974419"/>
            <a:ext cx="5086588" cy="635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284</a:t>
            </a:r>
            <a:endParaRPr lang="en-US" sz="4000" dirty="0"/>
          </a:p>
        </p:txBody>
      </p:sp>
      <p:sp>
        <p:nvSpPr>
          <p:cNvPr id="16" name="Text 12"/>
          <p:cNvSpPr/>
          <p:nvPr/>
        </p:nvSpPr>
        <p:spPr>
          <a:xfrm>
            <a:off x="7657624" y="3705939"/>
            <a:ext cx="6031587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(5.0%)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793790" y="4306967"/>
            <a:ext cx="3461623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ANOMALY CHARACTERISTICS</a:t>
            </a:r>
            <a:endParaRPr lang="en-US" sz="17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4727019"/>
            <a:ext cx="368498" cy="36849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93790" y="5215295"/>
            <a:ext cx="292250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Unusually high spending patterns</a:t>
            </a:r>
            <a:endParaRPr lang="en-US" sz="14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75088" y="4727019"/>
            <a:ext cx="368498" cy="36849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75088" y="5215295"/>
            <a:ext cx="2466142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Extreme purchase frequency</a:t>
            </a:r>
            <a:endParaRPr lang="en-US" sz="14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3790" y="5637252"/>
            <a:ext cx="368498" cy="36849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93790" y="6125527"/>
            <a:ext cx="2183963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Unusual buying behavior</a:t>
            </a:r>
            <a:endParaRPr lang="en-US" sz="14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75088" y="5637252"/>
            <a:ext cx="368498" cy="36849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375088" y="6125527"/>
            <a:ext cx="220753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Potential fraud indicators</a:t>
            </a:r>
            <a:endParaRPr lang="en-US" sz="1450" dirty="0"/>
          </a:p>
        </p:txBody>
      </p:sp>
      <p:sp>
        <p:nvSpPr>
          <p:cNvPr id="26" name="Shape 18"/>
          <p:cNvSpPr/>
          <p:nvPr/>
        </p:nvSpPr>
        <p:spPr>
          <a:xfrm>
            <a:off x="793790" y="6463665"/>
            <a:ext cx="13042821" cy="859036"/>
          </a:xfrm>
          <a:prstGeom prst="roundRect">
            <a:avLst>
              <a:gd name="adj" fmla="val 7209"/>
            </a:avLst>
          </a:prstGeom>
          <a:solidFill>
            <a:srgbClr val="B6FCB8"/>
          </a:solidFill>
          <a:ln/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189" y="6638925"/>
            <a:ext cx="276344" cy="221099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364933" y="6596182"/>
            <a:ext cx="2211467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Recommendation</a:t>
            </a:r>
            <a:endParaRPr lang="en-US" sz="1700" dirty="0"/>
          </a:p>
        </p:txBody>
      </p:sp>
      <p:sp>
        <p:nvSpPr>
          <p:cNvPr id="29" name="Text 20"/>
          <p:cNvSpPr/>
          <p:nvPr/>
        </p:nvSpPr>
        <p:spPr>
          <a:xfrm>
            <a:off x="1364933" y="6968252"/>
            <a:ext cx="1232427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Combined: customers flagged by BOTH methods — high-confidence anomalies. Manual review recommended.</a:t>
            </a:r>
            <a:endParaRPr lang="en-US" sz="115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A799991-1CA2-F3A7-5DD8-47BEB1529547}"/>
              </a:ext>
            </a:extLst>
          </p:cNvPr>
          <p:cNvSpPr/>
          <p:nvPr/>
        </p:nvSpPr>
        <p:spPr>
          <a:xfrm>
            <a:off x="12853188" y="7559499"/>
            <a:ext cx="1672046" cy="535577"/>
          </a:xfrm>
          <a:prstGeom prst="rect">
            <a:avLst/>
          </a:prstGeom>
          <a:solidFill>
            <a:srgbClr val="F9F9FF"/>
          </a:solidFill>
          <a:ln>
            <a:solidFill>
              <a:srgbClr val="F9F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Google Shape;105;p13">
            <a:extLst>
              <a:ext uri="{FF2B5EF4-FFF2-40B4-BE49-F238E27FC236}">
                <a16:creationId xmlns:a16="http://schemas.microsoft.com/office/drawing/2014/main" id="{6810A2EE-0703-F4B6-E756-29FFFD2A126A}"/>
              </a:ext>
            </a:extLst>
          </p:cNvPr>
          <p:cNvSpPr txBox="1"/>
          <p:nvPr/>
        </p:nvSpPr>
        <p:spPr>
          <a:xfrm>
            <a:off x="13539593" y="7616213"/>
            <a:ext cx="1220618" cy="51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7"/>
              </a:lnSpc>
            </a:pPr>
            <a:r>
              <a:rPr lang="en-US" sz="2798" dirty="0"/>
              <a:t>12</a:t>
            </a:r>
            <a:endParaRPr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1781"/>
            <a:ext cx="9877544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Business Insights &amp; Recommendations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63310" y="2122527"/>
            <a:ext cx="4012763" cy="60960"/>
          </a:xfrm>
          <a:prstGeom prst="rect">
            <a:avLst/>
          </a:prstGeom>
          <a:solidFill>
            <a:srgbClr val="22B8CF"/>
          </a:solidFill>
          <a:ln/>
        </p:spPr>
      </p:sp>
      <p:sp>
        <p:nvSpPr>
          <p:cNvPr id="4" name="Text 2"/>
          <p:cNvSpPr/>
          <p:nvPr/>
        </p:nvSpPr>
        <p:spPr>
          <a:xfrm>
            <a:off x="793790" y="2398871"/>
            <a:ext cx="3394710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CUSTOMER RETENTION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93790" y="2940129"/>
            <a:ext cx="3951803" cy="1487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Focus on Champions &amp; Loyal segments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 VIP loyalty programs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Personalized retention campaigns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248513" y="2122527"/>
            <a:ext cx="4012763" cy="60960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7" name="Text 5"/>
          <p:cNvSpPr/>
          <p:nvPr/>
        </p:nvSpPr>
        <p:spPr>
          <a:xfrm>
            <a:off x="5278993" y="2398871"/>
            <a:ext cx="3094315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PRODUCT BUNDLING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278993" y="2940129"/>
            <a:ext cx="3951803" cy="1487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Bundle often co-purchased items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Leverage high-lift association rules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Seasonal bundle promotions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733717" y="2122527"/>
            <a:ext cx="4012763" cy="60960"/>
          </a:xfrm>
          <a:prstGeom prst="rect">
            <a:avLst/>
          </a:prstGeom>
          <a:solidFill>
            <a:srgbClr val="8A2BE2"/>
          </a:solidFill>
          <a:ln/>
        </p:spPr>
      </p:sp>
      <p:sp>
        <p:nvSpPr>
          <p:cNvPr id="10" name="Text 8"/>
          <p:cNvSpPr/>
          <p:nvPr/>
        </p:nvSpPr>
        <p:spPr>
          <a:xfrm>
            <a:off x="9764197" y="2398871"/>
            <a:ext cx="3340298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TARGETED MARKETING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764197" y="2940129"/>
            <a:ext cx="3951803" cy="1151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Segment-specific campaigns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Personalized email marketing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Promotional sequences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63310" y="5118497"/>
            <a:ext cx="4012763" cy="60960"/>
          </a:xfrm>
          <a:prstGeom prst="rect">
            <a:avLst/>
          </a:prstGeom>
          <a:solidFill>
            <a:srgbClr val="FF6347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394841"/>
            <a:ext cx="302716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FRAUD PREVENTION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93790" y="5936099"/>
            <a:ext cx="3951803" cy="1151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Monitor 284 flagged accounts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Automated alert systems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Regular review protocols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5248513" y="5118497"/>
            <a:ext cx="4012763" cy="60960"/>
          </a:xfrm>
          <a:prstGeom prst="rect">
            <a:avLst/>
          </a:prstGeom>
          <a:solidFill>
            <a:srgbClr val="00CED1"/>
          </a:solidFill>
          <a:ln/>
        </p:spPr>
      </p:sp>
      <p:sp>
        <p:nvSpPr>
          <p:cNvPr id="16" name="Text 14"/>
          <p:cNvSpPr/>
          <p:nvPr/>
        </p:nvSpPr>
        <p:spPr>
          <a:xfrm>
            <a:off x="5278993" y="5394841"/>
            <a:ext cx="3940612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INVENTORY OPTIMIZATION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278993" y="5936099"/>
            <a:ext cx="3951803" cy="1151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Stock high-demand items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Seasonal trend planning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Reduce overstock risk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9733717" y="5118497"/>
            <a:ext cx="4012763" cy="60960"/>
          </a:xfrm>
          <a:prstGeom prst="rect">
            <a:avLst/>
          </a:prstGeom>
          <a:solidFill>
            <a:srgbClr val="FFA500"/>
          </a:solidFill>
          <a:ln/>
        </p:spPr>
      </p:sp>
      <p:sp>
        <p:nvSpPr>
          <p:cNvPr id="19" name="Text 17"/>
          <p:cNvSpPr/>
          <p:nvPr/>
        </p:nvSpPr>
        <p:spPr>
          <a:xfrm>
            <a:off x="9764197" y="5394841"/>
            <a:ext cx="2878336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REVENUE GROWTH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764197" y="5936099"/>
            <a:ext cx="3951803" cy="1151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Focus on high-value segments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Upsell &amp; cross-sell strategy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Maximize customer lifetime value</a:t>
            </a:r>
            <a:endParaRPr lang="en-US" sz="16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FAC980-2326-89D7-5A8B-CE9FBC158F2F}"/>
              </a:ext>
            </a:extLst>
          </p:cNvPr>
          <p:cNvSpPr/>
          <p:nvPr/>
        </p:nvSpPr>
        <p:spPr>
          <a:xfrm>
            <a:off x="12853188" y="7559499"/>
            <a:ext cx="1672046" cy="535577"/>
          </a:xfrm>
          <a:prstGeom prst="rect">
            <a:avLst/>
          </a:prstGeom>
          <a:solidFill>
            <a:srgbClr val="F9F9FF"/>
          </a:solidFill>
          <a:ln>
            <a:solidFill>
              <a:srgbClr val="F9F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Google Shape;105;p13">
            <a:extLst>
              <a:ext uri="{FF2B5EF4-FFF2-40B4-BE49-F238E27FC236}">
                <a16:creationId xmlns:a16="http://schemas.microsoft.com/office/drawing/2014/main" id="{667918A4-059C-618B-F086-690A608C9ED0}"/>
              </a:ext>
            </a:extLst>
          </p:cNvPr>
          <p:cNvSpPr txBox="1"/>
          <p:nvPr/>
        </p:nvSpPr>
        <p:spPr>
          <a:xfrm>
            <a:off x="13539593" y="7616213"/>
            <a:ext cx="1220618" cy="51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7"/>
              </a:lnSpc>
            </a:pPr>
            <a:r>
              <a:rPr lang="en-US" sz="2798" dirty="0"/>
              <a:t>13</a:t>
            </a:r>
            <a:endParaRPr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4632"/>
            <a:ext cx="85891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Conclusion &amp; Key Achievements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27039"/>
            <a:ext cx="3090505" cy="1946077"/>
          </a:xfrm>
          <a:prstGeom prst="roundRect">
            <a:avLst>
              <a:gd name="adj" fmla="val 4895"/>
            </a:avLst>
          </a:prstGeom>
          <a:solidFill>
            <a:srgbClr val="2196F3"/>
          </a:solidFill>
          <a:ln w="7620">
            <a:solidFill>
              <a:srgbClr val="3AA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2261473"/>
            <a:ext cx="2621637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9</a:t>
            </a:r>
            <a:endParaRPr lang="en-US" sz="6150" dirty="0"/>
          </a:p>
        </p:txBody>
      </p:sp>
      <p:sp>
        <p:nvSpPr>
          <p:cNvPr id="5" name="Text 3"/>
          <p:cNvSpPr/>
          <p:nvPr/>
        </p:nvSpPr>
        <p:spPr>
          <a:xfrm>
            <a:off x="1028224" y="3375779"/>
            <a:ext cx="26216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ML Modules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4111109" y="2027039"/>
            <a:ext cx="3090624" cy="1946077"/>
          </a:xfrm>
          <a:prstGeom prst="roundRect">
            <a:avLst>
              <a:gd name="adj" fmla="val 4895"/>
            </a:avLst>
          </a:prstGeom>
          <a:solidFill>
            <a:srgbClr val="2196F3"/>
          </a:solidFill>
          <a:ln w="7620">
            <a:solidFill>
              <a:srgbClr val="3AA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5543" y="2261473"/>
            <a:ext cx="2621756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100%</a:t>
            </a:r>
            <a:endParaRPr lang="en-US" sz="6150" dirty="0"/>
          </a:p>
        </p:txBody>
      </p:sp>
      <p:sp>
        <p:nvSpPr>
          <p:cNvPr id="8" name="Text 6"/>
          <p:cNvSpPr/>
          <p:nvPr/>
        </p:nvSpPr>
        <p:spPr>
          <a:xfrm>
            <a:off x="4345543" y="3375779"/>
            <a:ext cx="26217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Model Accuracy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2027039"/>
            <a:ext cx="3090624" cy="1946077"/>
          </a:xfrm>
          <a:prstGeom prst="roundRect">
            <a:avLst>
              <a:gd name="adj" fmla="val 4895"/>
            </a:avLst>
          </a:prstGeom>
          <a:solidFill>
            <a:srgbClr val="2196F3"/>
          </a:solidFill>
          <a:ln w="7620">
            <a:solidFill>
              <a:srgbClr val="3AA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62982" y="2261473"/>
            <a:ext cx="2621756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7</a:t>
            </a:r>
            <a:endParaRPr lang="en-US" sz="6150" dirty="0"/>
          </a:p>
        </p:txBody>
      </p:sp>
      <p:sp>
        <p:nvSpPr>
          <p:cNvPr id="11" name="Text 9"/>
          <p:cNvSpPr/>
          <p:nvPr/>
        </p:nvSpPr>
        <p:spPr>
          <a:xfrm>
            <a:off x="7662982" y="3375779"/>
            <a:ext cx="26217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Customer Segments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10745986" y="2027039"/>
            <a:ext cx="3090624" cy="1946077"/>
          </a:xfrm>
          <a:prstGeom prst="roundRect">
            <a:avLst>
              <a:gd name="adj" fmla="val 4895"/>
            </a:avLst>
          </a:prstGeom>
          <a:solidFill>
            <a:srgbClr val="2196F3"/>
          </a:solidFill>
          <a:ln w="7620">
            <a:solidFill>
              <a:srgbClr val="3AA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80420" y="2261473"/>
            <a:ext cx="2621756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5%</a:t>
            </a:r>
            <a:endParaRPr lang="en-US" sz="6150" dirty="0"/>
          </a:p>
        </p:txBody>
      </p:sp>
      <p:sp>
        <p:nvSpPr>
          <p:cNvPr id="14" name="Text 12"/>
          <p:cNvSpPr/>
          <p:nvPr/>
        </p:nvSpPr>
        <p:spPr>
          <a:xfrm>
            <a:off x="10980420" y="3375779"/>
            <a:ext cx="26217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Anomaly Rate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4228267"/>
            <a:ext cx="13042821" cy="3136702"/>
          </a:xfrm>
          <a:prstGeom prst="roundRect">
            <a:avLst>
              <a:gd name="adj" fmla="val 3037"/>
            </a:avLst>
          </a:prstGeom>
          <a:solidFill>
            <a:srgbClr val="F9F9FF">
              <a:alpha val="95000"/>
            </a:srgbClr>
          </a:solidFill>
          <a:ln w="30480">
            <a:solidFill>
              <a:srgbClr val="90EE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084" y="4485561"/>
            <a:ext cx="31271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KEY ACHIEVEMENTS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084" y="4975979"/>
            <a:ext cx="12528233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Successfully processed 1M+ retail transactions with comprehensive data cleaning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Evaluated 7 classifiers + 3 ensemble methods; tree-based models achieved 100% accuracy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Identified 7 distinct RFM customer segments including “Cannot Lose Them” for targeted strategies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Mined strong association rules (confidence ≥30%, lift ≥1.5) for cross-sell and bundling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Detected 284 anomalous transactions for fraud prevention</a:t>
            </a:r>
            <a:endParaRPr lang="en-US" sz="17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5CFF71-673F-FDD0-A9E2-DA27EC337D9B}"/>
              </a:ext>
            </a:extLst>
          </p:cNvPr>
          <p:cNvSpPr/>
          <p:nvPr/>
        </p:nvSpPr>
        <p:spPr>
          <a:xfrm>
            <a:off x="12853188" y="7559499"/>
            <a:ext cx="1672046" cy="535577"/>
          </a:xfrm>
          <a:prstGeom prst="rect">
            <a:avLst/>
          </a:prstGeom>
          <a:solidFill>
            <a:srgbClr val="F9F9FF"/>
          </a:solidFill>
          <a:ln>
            <a:solidFill>
              <a:srgbClr val="F9F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Google Shape;105;p13">
            <a:extLst>
              <a:ext uri="{FF2B5EF4-FFF2-40B4-BE49-F238E27FC236}">
                <a16:creationId xmlns:a16="http://schemas.microsoft.com/office/drawing/2014/main" id="{E5703E5D-5BFA-96D6-748C-A2E3E01F0FFA}"/>
              </a:ext>
            </a:extLst>
          </p:cNvPr>
          <p:cNvSpPr txBox="1"/>
          <p:nvPr/>
        </p:nvSpPr>
        <p:spPr>
          <a:xfrm>
            <a:off x="13539593" y="7616213"/>
            <a:ext cx="1220618" cy="51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7"/>
              </a:lnSpc>
            </a:pPr>
            <a:r>
              <a:rPr lang="en-US" sz="2798" dirty="0"/>
              <a:t>14</a:t>
            </a:r>
            <a:endParaRPr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1193</Words>
  <Application>Microsoft Office PowerPoint</Application>
  <PresentationFormat>Custom</PresentationFormat>
  <Paragraphs>281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Bodoni MT</vt:lpstr>
      <vt:lpstr>Nobile</vt:lpstr>
      <vt:lpstr>Arial</vt:lpstr>
      <vt:lpstr>Consolas</vt:lpstr>
      <vt:lpstr>Corben</vt:lpstr>
      <vt:lpstr>Times New Roman</vt:lpstr>
      <vt:lpstr>Playfair Display</vt:lpstr>
      <vt:lpstr>Nunito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Shahed Shamim</dc:creator>
  <cp:lastModifiedBy>Shahed Shamim</cp:lastModifiedBy>
  <cp:revision>11</cp:revision>
  <dcterms:created xsi:type="dcterms:W3CDTF">2026-04-17T15:36:48Z</dcterms:created>
  <dcterms:modified xsi:type="dcterms:W3CDTF">2026-04-29T07:25:07Z</dcterms:modified>
</cp:coreProperties>
</file>